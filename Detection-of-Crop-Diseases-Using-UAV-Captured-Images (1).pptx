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PT Serif"/>
      <p:regular r:id="rId15"/>
    </p:embeddedFont>
    <p:embeddedFont>
      <p:font typeface="PT Serif"/>
      <p:regular r:id="rId16"/>
    </p:embeddedFont>
    <p:embeddedFont>
      <p:font typeface="PT Serif"/>
      <p:regular r:id="rId17"/>
    </p:embeddedFont>
    <p:embeddedFont>
      <p:font typeface="PT Serif"/>
      <p:regular r:id="rId18"/>
    </p:embeddedFont>
    <p:embeddedFont>
      <p:font typeface="DM Sans"/>
      <p:regular r:id="rId19"/>
    </p:embeddedFont>
    <p:embeddedFont>
      <p:font typeface="DM Sans"/>
      <p:regular r:id="rId20"/>
    </p:embeddedFont>
    <p:embeddedFont>
      <p:font typeface="DM Sans"/>
      <p:regular r:id="rId21"/>
    </p:embeddedFont>
    <p:embeddedFont>
      <p:font typeface="DM Sans"/>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5.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1505"/>
          </a:xfrm>
          <a:prstGeom prst="rect">
            <a:avLst/>
          </a:prstGeom>
        </p:spPr>
      </p:pic>
      <p:sp>
        <p:nvSpPr>
          <p:cNvPr id="3" name="Text 0"/>
          <p:cNvSpPr/>
          <p:nvPr/>
        </p:nvSpPr>
        <p:spPr>
          <a:xfrm>
            <a:off x="6270069" y="615791"/>
            <a:ext cx="7576661" cy="1469469"/>
          </a:xfrm>
          <a:prstGeom prst="rect">
            <a:avLst/>
          </a:prstGeom>
          <a:noFill/>
          <a:ln/>
        </p:spPr>
        <p:txBody>
          <a:bodyPr wrap="square" lIns="0" tIns="0" rIns="0" bIns="0" rtlCol="0" anchor="t"/>
          <a:lstStyle/>
          <a:p>
            <a:pPr algn="l" indent="0" marL="0">
              <a:lnSpc>
                <a:spcPts val="5750"/>
              </a:lnSpc>
              <a:buNone/>
            </a:pPr>
            <a:r>
              <a:rPr lang="en-US" sz="4600" dirty="0">
                <a:solidFill>
                  <a:srgbClr val="020202"/>
                </a:solidFill>
                <a:latin typeface="PT Serif" pitchFamily="34" charset="0"/>
                <a:ea typeface="PT Serif" pitchFamily="34" charset="-122"/>
                <a:cs typeface="PT Serif" pitchFamily="34" charset="-120"/>
              </a:rPr>
              <a:t>Detection of Crop Diseases Using UAV-Captured Images</a:t>
            </a:r>
            <a:endParaRPr lang="en-US" sz="4600" dirty="0"/>
          </a:p>
        </p:txBody>
      </p:sp>
      <p:sp>
        <p:nvSpPr>
          <p:cNvPr id="4" name="Text 1"/>
          <p:cNvSpPr/>
          <p:nvPr/>
        </p:nvSpPr>
        <p:spPr>
          <a:xfrm>
            <a:off x="6270069" y="2421136"/>
            <a:ext cx="7576661" cy="3224332"/>
          </a:xfrm>
          <a:prstGeom prst="rect">
            <a:avLst/>
          </a:prstGeom>
          <a:noFill/>
          <a:ln/>
        </p:spPr>
        <p:txBody>
          <a:bodyPr wrap="square" lIns="0" tIns="0" rIns="0" bIns="0" rtlCol="0" anchor="t"/>
          <a:lstStyle/>
          <a:p>
            <a:pPr algn="l" indent="0" marL="0">
              <a:lnSpc>
                <a:spcPts val="2800"/>
              </a:lnSpc>
              <a:buNone/>
            </a:pPr>
            <a:r>
              <a:rPr lang="en-US" sz="1750" dirty="0">
                <a:solidFill>
                  <a:srgbClr val="383838"/>
                </a:solidFill>
                <a:latin typeface="DM Sans" pitchFamily="34" charset="0"/>
                <a:ea typeface="DM Sans" pitchFamily="34" charset="-122"/>
                <a:cs typeface="DM Sans" pitchFamily="34" charset="-120"/>
              </a:rPr>
              <a:t>This presentation explores an innovative approach to detecting crop diseases using unmanned aerial vehicles (UAVs) combined with classical machine learning techniques. Specifically, it leverages the Histogram of Oriented Gradients (HOG) for feature extraction from UAV-captured leaf images, followed by Principal Component Analysis (PCA) for dimensionality reduction and Logistic Regression for classification. The proposed method achieves high accuracy while sustaining computational efficiency, suitable for real-time deployment in agricultural monitoring.</a:t>
            </a:r>
            <a:endParaRPr lang="en-US" sz="1750" dirty="0"/>
          </a:p>
        </p:txBody>
      </p:sp>
      <p:sp>
        <p:nvSpPr>
          <p:cNvPr id="5" name="Text 2"/>
          <p:cNvSpPr/>
          <p:nvPr/>
        </p:nvSpPr>
        <p:spPr>
          <a:xfrm>
            <a:off x="6270069" y="5897285"/>
            <a:ext cx="7576661" cy="1074777"/>
          </a:xfrm>
          <a:prstGeom prst="rect">
            <a:avLst/>
          </a:prstGeom>
          <a:noFill/>
          <a:ln/>
        </p:spPr>
        <p:txBody>
          <a:bodyPr wrap="square" lIns="0" tIns="0" rIns="0" bIns="0" rtlCol="0" anchor="t"/>
          <a:lstStyle/>
          <a:p>
            <a:pPr algn="l" indent="0" marL="0">
              <a:lnSpc>
                <a:spcPts val="2800"/>
              </a:lnSpc>
              <a:buNone/>
            </a:pPr>
            <a:r>
              <a:rPr lang="en-US" sz="1750" dirty="0">
                <a:solidFill>
                  <a:srgbClr val="383838"/>
                </a:solidFill>
                <a:latin typeface="DM Sans" pitchFamily="34" charset="0"/>
                <a:ea typeface="DM Sans" pitchFamily="34" charset="-122"/>
                <a:cs typeface="DM Sans" pitchFamily="34" charset="-120"/>
              </a:rPr>
              <a:t>This work aims to provide precise, scalable, and interpretable solutions for early disease detection supporting sustainable agriculture and global food security.</a:t>
            </a:r>
            <a:endParaRPr lang="en-US" sz="1750" dirty="0"/>
          </a:p>
        </p:txBody>
      </p:sp>
      <p:sp>
        <p:nvSpPr>
          <p:cNvPr id="6" name="Shape 3"/>
          <p:cNvSpPr/>
          <p:nvPr/>
        </p:nvSpPr>
        <p:spPr>
          <a:xfrm>
            <a:off x="6270069" y="7240667"/>
            <a:ext cx="358259" cy="358259"/>
          </a:xfrm>
          <a:prstGeom prst="roundRect">
            <a:avLst>
              <a:gd name="adj" fmla="val 25520882"/>
            </a:avLst>
          </a:prstGeom>
          <a:noFill/>
          <a:ln w="7620">
            <a:solidFill>
              <a:srgbClr val="FFFFFF"/>
            </a:solidFill>
            <a:prstDash val="solid"/>
          </a:ln>
        </p:spPr>
      </p:sp>
      <p:pic>
        <p:nvPicPr>
          <p:cNvPr id="7" name="Image 1" descr="preencoded.png">    </p:cNvPr>
          <p:cNvPicPr>
            <a:picLocks noChangeAspect="1"/>
          </p:cNvPicPr>
          <p:nvPr/>
        </p:nvPicPr>
        <p:blipFill>
          <a:blip r:embed="rId2"/>
          <a:stretch>
            <a:fillRect/>
          </a:stretch>
        </p:blipFill>
        <p:spPr>
          <a:xfrm>
            <a:off x="6277689" y="7248287"/>
            <a:ext cx="343019" cy="343019"/>
          </a:xfrm>
          <a:prstGeom prst="rect">
            <a:avLst/>
          </a:prstGeom>
        </p:spPr>
      </p:pic>
      <p:sp>
        <p:nvSpPr>
          <p:cNvPr id="8" name="Text 4"/>
          <p:cNvSpPr/>
          <p:nvPr/>
        </p:nvSpPr>
        <p:spPr>
          <a:xfrm>
            <a:off x="6740247" y="7223879"/>
            <a:ext cx="2867382" cy="391835"/>
          </a:xfrm>
          <a:prstGeom prst="rect">
            <a:avLst/>
          </a:prstGeom>
          <a:noFill/>
          <a:ln/>
        </p:spPr>
        <p:txBody>
          <a:bodyPr wrap="none" lIns="0" tIns="0" rIns="0" bIns="0" rtlCol="0" anchor="t"/>
          <a:lstStyle/>
          <a:p>
            <a:pPr algn="l" indent="0" marL="0">
              <a:lnSpc>
                <a:spcPts val="3050"/>
              </a:lnSpc>
              <a:buNone/>
            </a:pPr>
            <a:r>
              <a:rPr lang="en-US" sz="2200" b="1" dirty="0">
                <a:solidFill>
                  <a:srgbClr val="383838"/>
                </a:solidFill>
                <a:latin typeface="DM Sans Bold" pitchFamily="34" charset="0"/>
                <a:ea typeface="DM Sans Bold" pitchFamily="34" charset="-122"/>
                <a:cs typeface="DM Sans Bold" pitchFamily="34" charset="-120"/>
              </a:rPr>
              <a:t>by SM Fazlur Rahman</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03540" y="754023"/>
            <a:ext cx="7736919" cy="1319213"/>
          </a:xfrm>
          <a:prstGeom prst="rect">
            <a:avLst/>
          </a:prstGeom>
          <a:noFill/>
          <a:ln/>
        </p:spPr>
        <p:txBody>
          <a:bodyPr wrap="square" lIns="0" tIns="0" rIns="0" bIns="0" rtlCol="0" anchor="t"/>
          <a:lstStyle/>
          <a:p>
            <a:pPr algn="l" indent="0" marL="0">
              <a:lnSpc>
                <a:spcPts val="5150"/>
              </a:lnSpc>
              <a:buNone/>
            </a:pPr>
            <a:r>
              <a:rPr lang="en-US" sz="4150" dirty="0">
                <a:solidFill>
                  <a:srgbClr val="020202"/>
                </a:solidFill>
                <a:latin typeface="PT Serif" pitchFamily="34" charset="0"/>
                <a:ea typeface="PT Serif" pitchFamily="34" charset="-122"/>
                <a:cs typeface="PT Serif" pitchFamily="34" charset="-120"/>
              </a:rPr>
              <a:t>Introduction to UAV-based Crop Disease Detection</a:t>
            </a:r>
            <a:endParaRPr lang="en-US" sz="4150" dirty="0"/>
          </a:p>
        </p:txBody>
      </p:sp>
      <p:sp>
        <p:nvSpPr>
          <p:cNvPr id="4" name="Shape 1"/>
          <p:cNvSpPr/>
          <p:nvPr/>
        </p:nvSpPr>
        <p:spPr>
          <a:xfrm>
            <a:off x="703540" y="2600801"/>
            <a:ext cx="452318" cy="452318"/>
          </a:xfrm>
          <a:prstGeom prst="roundRect">
            <a:avLst>
              <a:gd name="adj" fmla="val 6667"/>
            </a:avLst>
          </a:prstGeom>
          <a:solidFill>
            <a:srgbClr val="F2EEEE"/>
          </a:solidFill>
          <a:ln/>
        </p:spPr>
      </p:sp>
      <p:sp>
        <p:nvSpPr>
          <p:cNvPr id="5" name="Text 2"/>
          <p:cNvSpPr/>
          <p:nvPr/>
        </p:nvSpPr>
        <p:spPr>
          <a:xfrm>
            <a:off x="1356836" y="2600801"/>
            <a:ext cx="2638663" cy="329803"/>
          </a:xfrm>
          <a:prstGeom prst="rect">
            <a:avLst/>
          </a:prstGeom>
          <a:noFill/>
          <a:ln/>
        </p:spPr>
        <p:txBody>
          <a:bodyPr wrap="none" lIns="0" tIns="0" rIns="0" bIns="0" rtlCol="0" anchor="t"/>
          <a:lstStyle/>
          <a:p>
            <a:pPr algn="l" indent="0" marL="0">
              <a:lnSpc>
                <a:spcPts val="2550"/>
              </a:lnSpc>
              <a:buNone/>
            </a:pPr>
            <a:r>
              <a:rPr lang="en-US" sz="2050" dirty="0">
                <a:solidFill>
                  <a:srgbClr val="383838"/>
                </a:solidFill>
                <a:latin typeface="PT Serif" pitchFamily="34" charset="0"/>
                <a:ea typeface="PT Serif" pitchFamily="34" charset="-122"/>
                <a:cs typeface="PT Serif" pitchFamily="34" charset="-120"/>
              </a:rPr>
              <a:t>Crisis in Agriculture</a:t>
            </a:r>
            <a:endParaRPr lang="en-US" sz="2050" dirty="0"/>
          </a:p>
        </p:txBody>
      </p:sp>
      <p:sp>
        <p:nvSpPr>
          <p:cNvPr id="6" name="Text 3"/>
          <p:cNvSpPr/>
          <p:nvPr/>
        </p:nvSpPr>
        <p:spPr>
          <a:xfrm>
            <a:off x="1356836" y="3051215"/>
            <a:ext cx="3114675" cy="2251948"/>
          </a:xfrm>
          <a:prstGeom prst="rect">
            <a:avLst/>
          </a:prstGeom>
          <a:noFill/>
          <a:ln/>
        </p:spPr>
        <p:txBody>
          <a:bodyPr wrap="square" lIns="0" tIns="0" rIns="0" bIns="0" rtlCol="0" anchor="t"/>
          <a:lstStyle/>
          <a:p>
            <a:pPr algn="l" indent="0" marL="0">
              <a:lnSpc>
                <a:spcPts val="2500"/>
              </a:lnSpc>
              <a:buNone/>
            </a:pPr>
            <a:r>
              <a:rPr lang="en-US" sz="1550" dirty="0">
                <a:solidFill>
                  <a:srgbClr val="383838"/>
                </a:solidFill>
                <a:latin typeface="DM Sans" pitchFamily="34" charset="0"/>
                <a:ea typeface="DM Sans" pitchFamily="34" charset="-122"/>
                <a:cs typeface="DM Sans" pitchFamily="34" charset="-120"/>
              </a:rPr>
              <a:t>Plant diseases cause significant crop losses worldwide, threatening food security. Early detection is vital but traditionally relies on expert manual inspection, which is slow and labor-intensive.</a:t>
            </a:r>
            <a:endParaRPr lang="en-US" sz="1550" dirty="0"/>
          </a:p>
        </p:txBody>
      </p:sp>
      <p:sp>
        <p:nvSpPr>
          <p:cNvPr id="7" name="Shape 4"/>
          <p:cNvSpPr/>
          <p:nvPr/>
        </p:nvSpPr>
        <p:spPr>
          <a:xfrm>
            <a:off x="4672489" y="2600801"/>
            <a:ext cx="452318" cy="452318"/>
          </a:xfrm>
          <a:prstGeom prst="roundRect">
            <a:avLst>
              <a:gd name="adj" fmla="val 6667"/>
            </a:avLst>
          </a:prstGeom>
          <a:solidFill>
            <a:srgbClr val="F2EEEE"/>
          </a:solidFill>
          <a:ln/>
        </p:spPr>
      </p:sp>
      <p:sp>
        <p:nvSpPr>
          <p:cNvPr id="8" name="Text 5"/>
          <p:cNvSpPr/>
          <p:nvPr/>
        </p:nvSpPr>
        <p:spPr>
          <a:xfrm>
            <a:off x="5325785" y="2600801"/>
            <a:ext cx="3114675" cy="659606"/>
          </a:xfrm>
          <a:prstGeom prst="rect">
            <a:avLst/>
          </a:prstGeom>
          <a:noFill/>
          <a:ln/>
        </p:spPr>
        <p:txBody>
          <a:bodyPr wrap="square" lIns="0" tIns="0" rIns="0" bIns="0" rtlCol="0" anchor="t"/>
          <a:lstStyle/>
          <a:p>
            <a:pPr algn="l" indent="0" marL="0">
              <a:lnSpc>
                <a:spcPts val="2550"/>
              </a:lnSpc>
              <a:buNone/>
            </a:pPr>
            <a:r>
              <a:rPr lang="en-US" sz="2050" dirty="0">
                <a:solidFill>
                  <a:srgbClr val="383838"/>
                </a:solidFill>
                <a:latin typeface="PT Serif" pitchFamily="34" charset="0"/>
                <a:ea typeface="PT Serif" pitchFamily="34" charset="-122"/>
                <a:cs typeface="PT Serif" pitchFamily="34" charset="-120"/>
              </a:rPr>
              <a:t>Role of UAVs in Precision Agriculture</a:t>
            </a:r>
            <a:endParaRPr lang="en-US" sz="2050" dirty="0"/>
          </a:p>
        </p:txBody>
      </p:sp>
      <p:sp>
        <p:nvSpPr>
          <p:cNvPr id="9" name="Text 6"/>
          <p:cNvSpPr/>
          <p:nvPr/>
        </p:nvSpPr>
        <p:spPr>
          <a:xfrm>
            <a:off x="5325785" y="3381018"/>
            <a:ext cx="3114675" cy="2251948"/>
          </a:xfrm>
          <a:prstGeom prst="rect">
            <a:avLst/>
          </a:prstGeom>
          <a:noFill/>
          <a:ln/>
        </p:spPr>
        <p:txBody>
          <a:bodyPr wrap="square" lIns="0" tIns="0" rIns="0" bIns="0" rtlCol="0" anchor="t"/>
          <a:lstStyle/>
          <a:p>
            <a:pPr algn="l" indent="0" marL="0">
              <a:lnSpc>
                <a:spcPts val="2500"/>
              </a:lnSpc>
              <a:buNone/>
            </a:pPr>
            <a:r>
              <a:rPr lang="en-US" sz="1550" dirty="0">
                <a:solidFill>
                  <a:srgbClr val="383838"/>
                </a:solidFill>
                <a:latin typeface="DM Sans" pitchFamily="34" charset="0"/>
                <a:ea typeface="DM Sans" pitchFamily="34" charset="-122"/>
                <a:cs typeface="DM Sans" pitchFamily="34" charset="-120"/>
              </a:rPr>
              <a:t>Unmanned Aerial Vehicles enable rapid, large-scale acquisition of high-resolution images for crop health monitoring, providing a foundation for automated disease detection outside the limitations of manual scouting.</a:t>
            </a:r>
            <a:endParaRPr lang="en-US" sz="1550" dirty="0"/>
          </a:p>
        </p:txBody>
      </p:sp>
      <p:sp>
        <p:nvSpPr>
          <p:cNvPr id="10" name="Shape 7"/>
          <p:cNvSpPr/>
          <p:nvPr/>
        </p:nvSpPr>
        <p:spPr>
          <a:xfrm>
            <a:off x="703540" y="6060043"/>
            <a:ext cx="452318" cy="452318"/>
          </a:xfrm>
          <a:prstGeom prst="roundRect">
            <a:avLst>
              <a:gd name="adj" fmla="val 6667"/>
            </a:avLst>
          </a:prstGeom>
          <a:solidFill>
            <a:srgbClr val="F2EEEE"/>
          </a:solidFill>
          <a:ln/>
        </p:spPr>
      </p:sp>
      <p:sp>
        <p:nvSpPr>
          <p:cNvPr id="11" name="Text 8"/>
          <p:cNvSpPr/>
          <p:nvPr/>
        </p:nvSpPr>
        <p:spPr>
          <a:xfrm>
            <a:off x="1356836" y="6060043"/>
            <a:ext cx="2638663" cy="329803"/>
          </a:xfrm>
          <a:prstGeom prst="rect">
            <a:avLst/>
          </a:prstGeom>
          <a:noFill/>
          <a:ln/>
        </p:spPr>
        <p:txBody>
          <a:bodyPr wrap="none" lIns="0" tIns="0" rIns="0" bIns="0" rtlCol="0" anchor="t"/>
          <a:lstStyle/>
          <a:p>
            <a:pPr algn="l" indent="0" marL="0">
              <a:lnSpc>
                <a:spcPts val="2550"/>
              </a:lnSpc>
              <a:buNone/>
            </a:pPr>
            <a:r>
              <a:rPr lang="en-US" sz="2050" dirty="0">
                <a:solidFill>
                  <a:srgbClr val="383838"/>
                </a:solidFill>
                <a:latin typeface="PT Serif" pitchFamily="34" charset="0"/>
                <a:ea typeface="PT Serif" pitchFamily="34" charset="-122"/>
                <a:cs typeface="PT Serif" pitchFamily="34" charset="-120"/>
              </a:rPr>
              <a:t>Our Approach</a:t>
            </a:r>
            <a:endParaRPr lang="en-US" sz="2050" dirty="0"/>
          </a:p>
        </p:txBody>
      </p:sp>
      <p:sp>
        <p:nvSpPr>
          <p:cNvPr id="12" name="Text 9"/>
          <p:cNvSpPr/>
          <p:nvPr/>
        </p:nvSpPr>
        <p:spPr>
          <a:xfrm>
            <a:off x="1356836" y="6510457"/>
            <a:ext cx="7083623" cy="965121"/>
          </a:xfrm>
          <a:prstGeom prst="rect">
            <a:avLst/>
          </a:prstGeom>
          <a:noFill/>
          <a:ln/>
        </p:spPr>
        <p:txBody>
          <a:bodyPr wrap="square" lIns="0" tIns="0" rIns="0" bIns="0" rtlCol="0" anchor="t"/>
          <a:lstStyle/>
          <a:p>
            <a:pPr algn="l" indent="0" marL="0">
              <a:lnSpc>
                <a:spcPts val="2500"/>
              </a:lnSpc>
              <a:buNone/>
            </a:pPr>
            <a:r>
              <a:rPr lang="en-US" sz="1550" dirty="0">
                <a:solidFill>
                  <a:srgbClr val="383838"/>
                </a:solidFill>
                <a:latin typeface="DM Sans" pitchFamily="34" charset="0"/>
                <a:ea typeface="DM Sans" pitchFamily="34" charset="-122"/>
                <a:cs typeface="DM Sans" pitchFamily="34" charset="-120"/>
              </a:rPr>
              <a:t>Using UAV images and machine learning pipelines leveraging HOG features and logistic regression offers a lightweight, interpretable, and efficient method for real-time disease diagnosis at leaf level.</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150388"/>
            <a:ext cx="12883158" cy="744260"/>
          </a:xfrm>
          <a:prstGeom prst="rect">
            <a:avLst/>
          </a:prstGeom>
          <a:noFill/>
          <a:ln/>
        </p:spPr>
        <p:txBody>
          <a:bodyPr wrap="none" lIns="0" tIns="0" rIns="0" bIns="0" rtlCol="0" anchor="t"/>
          <a:lstStyle/>
          <a:p>
            <a:pPr algn="l" indent="0" marL="0">
              <a:lnSpc>
                <a:spcPts val="5850"/>
              </a:lnSpc>
              <a:buNone/>
            </a:pPr>
            <a:r>
              <a:rPr lang="en-US" sz="4650" dirty="0">
                <a:solidFill>
                  <a:srgbClr val="020202"/>
                </a:solidFill>
                <a:latin typeface="PT Serif" pitchFamily="34" charset="0"/>
                <a:ea typeface="PT Serif" pitchFamily="34" charset="-122"/>
                <a:cs typeface="PT Serif" pitchFamily="34" charset="-120"/>
              </a:rPr>
              <a:t>Related Work and Feature Extraction Techniques</a:t>
            </a:r>
            <a:endParaRPr lang="en-US" sz="4650" dirty="0"/>
          </a:p>
        </p:txBody>
      </p:sp>
      <p:sp>
        <p:nvSpPr>
          <p:cNvPr id="3" name="Text 1"/>
          <p:cNvSpPr/>
          <p:nvPr/>
        </p:nvSpPr>
        <p:spPr>
          <a:xfrm>
            <a:off x="793790" y="3461623"/>
            <a:ext cx="3934658" cy="372070"/>
          </a:xfrm>
          <a:prstGeom prst="rect">
            <a:avLst/>
          </a:prstGeom>
          <a:noFill/>
          <a:ln/>
        </p:spPr>
        <p:txBody>
          <a:bodyPr wrap="none" lIns="0" tIns="0" rIns="0" bIns="0" rtlCol="0" anchor="t"/>
          <a:lstStyle/>
          <a:p>
            <a:pPr algn="l" indent="0" marL="0">
              <a:lnSpc>
                <a:spcPts val="2900"/>
              </a:lnSpc>
              <a:buNone/>
            </a:pPr>
            <a:r>
              <a:rPr lang="en-US" sz="2300" dirty="0">
                <a:solidFill>
                  <a:srgbClr val="020202"/>
                </a:solidFill>
                <a:latin typeface="PT Serif" pitchFamily="34" charset="0"/>
                <a:ea typeface="PT Serif" pitchFamily="34" charset="-122"/>
                <a:cs typeface="PT Serif" pitchFamily="34" charset="-120"/>
              </a:rPr>
              <a:t>Traditional Machine Learning</a:t>
            </a:r>
            <a:endParaRPr lang="en-US" sz="2300" dirty="0"/>
          </a:p>
        </p:txBody>
      </p:sp>
      <p:sp>
        <p:nvSpPr>
          <p:cNvPr id="4" name="Text 2"/>
          <p:cNvSpPr/>
          <p:nvPr/>
        </p:nvSpPr>
        <p:spPr>
          <a:xfrm>
            <a:off x="793790" y="4060508"/>
            <a:ext cx="6244709" cy="1814513"/>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Popular in agriculture for disease recognition due to lower computational resources compared to deep learning. Utilizes handcrafted features like HOG, SIFT, and LBP combined with classifiers like k-NN, SVM, and Logistic Regression.</a:t>
            </a:r>
            <a:endParaRPr lang="en-US" sz="1750" dirty="0"/>
          </a:p>
        </p:txBody>
      </p:sp>
      <p:sp>
        <p:nvSpPr>
          <p:cNvPr id="5" name="Text 3"/>
          <p:cNvSpPr/>
          <p:nvPr/>
        </p:nvSpPr>
        <p:spPr>
          <a:xfrm>
            <a:off x="7599521" y="3461623"/>
            <a:ext cx="5253990" cy="372070"/>
          </a:xfrm>
          <a:prstGeom prst="rect">
            <a:avLst/>
          </a:prstGeom>
          <a:noFill/>
          <a:ln/>
        </p:spPr>
        <p:txBody>
          <a:bodyPr wrap="none" lIns="0" tIns="0" rIns="0" bIns="0" rtlCol="0" anchor="t"/>
          <a:lstStyle/>
          <a:p>
            <a:pPr algn="l" indent="0" marL="0">
              <a:lnSpc>
                <a:spcPts val="2900"/>
              </a:lnSpc>
              <a:buNone/>
            </a:pPr>
            <a:r>
              <a:rPr lang="en-US" sz="2300" dirty="0">
                <a:solidFill>
                  <a:srgbClr val="020202"/>
                </a:solidFill>
                <a:latin typeface="PT Serif" pitchFamily="34" charset="0"/>
                <a:ea typeface="PT Serif" pitchFamily="34" charset="-122"/>
                <a:cs typeface="PT Serif" pitchFamily="34" charset="-120"/>
              </a:rPr>
              <a:t>Histogram of Oriented Gradients (HOG)</a:t>
            </a:r>
            <a:endParaRPr lang="en-US" sz="2300" dirty="0"/>
          </a:p>
        </p:txBody>
      </p:sp>
      <p:sp>
        <p:nvSpPr>
          <p:cNvPr id="6" name="Text 4"/>
          <p:cNvSpPr/>
          <p:nvPr/>
        </p:nvSpPr>
        <p:spPr>
          <a:xfrm>
            <a:off x="7599521" y="4060508"/>
            <a:ext cx="6244709" cy="1814513"/>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Effective for capturing texture and shape patterns in leaf images, highlighting disease symptoms such as spots and lesions. Converts images to gradient orientation histograms representing edge information, beneficial for interpretability and real-time use on UAVs.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1267"/>
          </a:xfrm>
          <a:prstGeom prst="rect">
            <a:avLst/>
          </a:prstGeom>
        </p:spPr>
      </p:pic>
      <p:sp>
        <p:nvSpPr>
          <p:cNvPr id="3" name="Text 0"/>
          <p:cNvSpPr/>
          <p:nvPr/>
        </p:nvSpPr>
        <p:spPr>
          <a:xfrm>
            <a:off x="641271" y="503873"/>
            <a:ext cx="7861459" cy="1202531"/>
          </a:xfrm>
          <a:prstGeom prst="rect">
            <a:avLst/>
          </a:prstGeom>
          <a:noFill/>
          <a:ln/>
        </p:spPr>
        <p:txBody>
          <a:bodyPr wrap="square" lIns="0" tIns="0" rIns="0" bIns="0" rtlCol="0" anchor="t"/>
          <a:lstStyle/>
          <a:p>
            <a:pPr algn="l" indent="0" marL="0">
              <a:lnSpc>
                <a:spcPts val="4700"/>
              </a:lnSpc>
              <a:buNone/>
            </a:pPr>
            <a:r>
              <a:rPr lang="en-US" sz="3750" dirty="0">
                <a:solidFill>
                  <a:srgbClr val="020202"/>
                </a:solidFill>
                <a:latin typeface="PT Serif" pitchFamily="34" charset="0"/>
                <a:ea typeface="PT Serif" pitchFamily="34" charset="-122"/>
                <a:cs typeface="PT Serif" pitchFamily="34" charset="-120"/>
              </a:rPr>
              <a:t>Methodology: System Architecture and Dataset</a:t>
            </a:r>
            <a:endParaRPr lang="en-US" sz="3750" dirty="0"/>
          </a:p>
        </p:txBody>
      </p:sp>
      <p:pic>
        <p:nvPicPr>
          <p:cNvPr id="4" name="Image 1" descr="preencoded.png">    </p:cNvPr>
          <p:cNvPicPr>
            <a:picLocks noChangeAspect="1"/>
          </p:cNvPicPr>
          <p:nvPr/>
        </p:nvPicPr>
        <p:blipFill>
          <a:blip r:embed="rId2"/>
          <a:stretch>
            <a:fillRect/>
          </a:stretch>
        </p:blipFill>
        <p:spPr>
          <a:xfrm>
            <a:off x="641271" y="1981200"/>
            <a:ext cx="916186" cy="1363266"/>
          </a:xfrm>
          <a:prstGeom prst="rect">
            <a:avLst/>
          </a:prstGeom>
        </p:spPr>
      </p:pic>
      <p:sp>
        <p:nvSpPr>
          <p:cNvPr id="5" name="Text 1"/>
          <p:cNvSpPr/>
          <p:nvPr/>
        </p:nvSpPr>
        <p:spPr>
          <a:xfrm>
            <a:off x="1832253" y="2164437"/>
            <a:ext cx="2405062" cy="300633"/>
          </a:xfrm>
          <a:prstGeom prst="rect">
            <a:avLst/>
          </a:prstGeom>
          <a:noFill/>
          <a:ln/>
        </p:spPr>
        <p:txBody>
          <a:bodyPr wrap="none" lIns="0" tIns="0" rIns="0" bIns="0" rtlCol="0" anchor="t"/>
          <a:lstStyle/>
          <a:p>
            <a:pPr algn="l" indent="0" marL="0">
              <a:lnSpc>
                <a:spcPts val="2350"/>
              </a:lnSpc>
              <a:buNone/>
            </a:pPr>
            <a:r>
              <a:rPr lang="en-US" sz="1850" dirty="0">
                <a:solidFill>
                  <a:srgbClr val="383838"/>
                </a:solidFill>
                <a:latin typeface="PT Serif" pitchFamily="34" charset="0"/>
                <a:ea typeface="PT Serif" pitchFamily="34" charset="-122"/>
                <a:cs typeface="PT Serif" pitchFamily="34" charset="-120"/>
              </a:rPr>
              <a:t>Image Acquisition</a:t>
            </a:r>
            <a:endParaRPr lang="en-US" sz="1850" dirty="0"/>
          </a:p>
        </p:txBody>
      </p:sp>
      <p:sp>
        <p:nvSpPr>
          <p:cNvPr id="6" name="Text 2"/>
          <p:cNvSpPr/>
          <p:nvPr/>
        </p:nvSpPr>
        <p:spPr>
          <a:xfrm>
            <a:off x="1832253" y="2574965"/>
            <a:ext cx="6670477" cy="586264"/>
          </a:xfrm>
          <a:prstGeom prst="rect">
            <a:avLst/>
          </a:prstGeom>
          <a:noFill/>
          <a:ln/>
        </p:spPr>
        <p:txBody>
          <a:bodyPr wrap="square" lIns="0" tIns="0" rIns="0" bIns="0" rtlCol="0" anchor="t"/>
          <a:lstStyle/>
          <a:p>
            <a:pPr algn="l" indent="0" marL="0">
              <a:lnSpc>
                <a:spcPts val="2300"/>
              </a:lnSpc>
              <a:buNone/>
            </a:pPr>
            <a:r>
              <a:rPr lang="en-US" sz="1400" dirty="0">
                <a:solidFill>
                  <a:srgbClr val="383838"/>
                </a:solidFill>
                <a:latin typeface="DM Sans" pitchFamily="34" charset="0"/>
                <a:ea typeface="DM Sans" pitchFamily="34" charset="-122"/>
                <a:cs typeface="DM Sans" pitchFamily="34" charset="-120"/>
              </a:rPr>
              <a:t>UAVs equipped with RGB cameras capture top-down images of agricultural fields to collect high-resolution leaf data.</a:t>
            </a:r>
            <a:endParaRPr lang="en-US" sz="1400" dirty="0"/>
          </a:p>
        </p:txBody>
      </p:sp>
      <p:pic>
        <p:nvPicPr>
          <p:cNvPr id="7" name="Image 2" descr="preencoded.png">    </p:cNvPr>
          <p:cNvPicPr>
            <a:picLocks noChangeAspect="1"/>
          </p:cNvPicPr>
          <p:nvPr/>
        </p:nvPicPr>
        <p:blipFill>
          <a:blip r:embed="rId3"/>
          <a:stretch>
            <a:fillRect/>
          </a:stretch>
        </p:blipFill>
        <p:spPr>
          <a:xfrm>
            <a:off x="641271" y="3344466"/>
            <a:ext cx="916186" cy="1363266"/>
          </a:xfrm>
          <a:prstGeom prst="rect">
            <a:avLst/>
          </a:prstGeom>
        </p:spPr>
      </p:pic>
      <p:sp>
        <p:nvSpPr>
          <p:cNvPr id="8" name="Text 3"/>
          <p:cNvSpPr/>
          <p:nvPr/>
        </p:nvSpPr>
        <p:spPr>
          <a:xfrm>
            <a:off x="1832253" y="3527703"/>
            <a:ext cx="2405062" cy="300633"/>
          </a:xfrm>
          <a:prstGeom prst="rect">
            <a:avLst/>
          </a:prstGeom>
          <a:noFill/>
          <a:ln/>
        </p:spPr>
        <p:txBody>
          <a:bodyPr wrap="none" lIns="0" tIns="0" rIns="0" bIns="0" rtlCol="0" anchor="t"/>
          <a:lstStyle/>
          <a:p>
            <a:pPr algn="l" indent="0" marL="0">
              <a:lnSpc>
                <a:spcPts val="2350"/>
              </a:lnSpc>
              <a:buNone/>
            </a:pPr>
            <a:r>
              <a:rPr lang="en-US" sz="1850" dirty="0">
                <a:solidFill>
                  <a:srgbClr val="383838"/>
                </a:solidFill>
                <a:latin typeface="PT Serif" pitchFamily="34" charset="0"/>
                <a:ea typeface="PT Serif" pitchFamily="34" charset="-122"/>
                <a:cs typeface="PT Serif" pitchFamily="34" charset="-120"/>
              </a:rPr>
              <a:t>Preprocessing</a:t>
            </a:r>
            <a:endParaRPr lang="en-US" sz="1850" dirty="0"/>
          </a:p>
        </p:txBody>
      </p:sp>
      <p:sp>
        <p:nvSpPr>
          <p:cNvPr id="9" name="Text 4"/>
          <p:cNvSpPr/>
          <p:nvPr/>
        </p:nvSpPr>
        <p:spPr>
          <a:xfrm>
            <a:off x="1832253" y="3938230"/>
            <a:ext cx="6670477" cy="586264"/>
          </a:xfrm>
          <a:prstGeom prst="rect">
            <a:avLst/>
          </a:prstGeom>
          <a:noFill/>
          <a:ln/>
        </p:spPr>
        <p:txBody>
          <a:bodyPr wrap="square" lIns="0" tIns="0" rIns="0" bIns="0" rtlCol="0" anchor="t"/>
          <a:lstStyle/>
          <a:p>
            <a:pPr algn="l" indent="0" marL="0">
              <a:lnSpc>
                <a:spcPts val="2300"/>
              </a:lnSpc>
              <a:buNone/>
            </a:pPr>
            <a:r>
              <a:rPr lang="en-US" sz="1400" dirty="0">
                <a:solidFill>
                  <a:srgbClr val="383838"/>
                </a:solidFill>
                <a:latin typeface="DM Sans" pitchFamily="34" charset="0"/>
                <a:ea typeface="DM Sans" pitchFamily="34" charset="-122"/>
                <a:cs typeface="DM Sans" pitchFamily="34" charset="-120"/>
              </a:rPr>
              <a:t>Uniform resizing to 128x128 pixels, grayscale conversion, dataset shuffling, and label encoding prepare data for analysis and ensure model robustness.</a:t>
            </a:r>
            <a:endParaRPr lang="en-US" sz="1400" dirty="0"/>
          </a:p>
        </p:txBody>
      </p:sp>
      <p:pic>
        <p:nvPicPr>
          <p:cNvPr id="10" name="Image 3" descr="preencoded.png">    </p:cNvPr>
          <p:cNvPicPr>
            <a:picLocks noChangeAspect="1"/>
          </p:cNvPicPr>
          <p:nvPr/>
        </p:nvPicPr>
        <p:blipFill>
          <a:blip r:embed="rId4"/>
          <a:stretch>
            <a:fillRect/>
          </a:stretch>
        </p:blipFill>
        <p:spPr>
          <a:xfrm>
            <a:off x="641271" y="4707731"/>
            <a:ext cx="916186" cy="1656397"/>
          </a:xfrm>
          <a:prstGeom prst="rect">
            <a:avLst/>
          </a:prstGeom>
        </p:spPr>
      </p:pic>
      <p:sp>
        <p:nvSpPr>
          <p:cNvPr id="11" name="Text 5"/>
          <p:cNvSpPr/>
          <p:nvPr/>
        </p:nvSpPr>
        <p:spPr>
          <a:xfrm>
            <a:off x="1832253" y="4890968"/>
            <a:ext cx="3768566" cy="300633"/>
          </a:xfrm>
          <a:prstGeom prst="rect">
            <a:avLst/>
          </a:prstGeom>
          <a:noFill/>
          <a:ln/>
        </p:spPr>
        <p:txBody>
          <a:bodyPr wrap="none" lIns="0" tIns="0" rIns="0" bIns="0" rtlCol="0" anchor="t"/>
          <a:lstStyle/>
          <a:p>
            <a:pPr algn="l" indent="0" marL="0">
              <a:lnSpc>
                <a:spcPts val="2350"/>
              </a:lnSpc>
              <a:buNone/>
            </a:pPr>
            <a:r>
              <a:rPr lang="en-US" sz="1850" dirty="0">
                <a:solidFill>
                  <a:srgbClr val="383838"/>
                </a:solidFill>
                <a:latin typeface="PT Serif" pitchFamily="34" charset="0"/>
                <a:ea typeface="PT Serif" pitchFamily="34" charset="-122"/>
                <a:cs typeface="PT Serif" pitchFamily="34" charset="-120"/>
              </a:rPr>
              <a:t>Feature Extraction &amp; Classification</a:t>
            </a:r>
            <a:endParaRPr lang="en-US" sz="1850" dirty="0"/>
          </a:p>
        </p:txBody>
      </p:sp>
      <p:sp>
        <p:nvSpPr>
          <p:cNvPr id="12" name="Text 6"/>
          <p:cNvSpPr/>
          <p:nvPr/>
        </p:nvSpPr>
        <p:spPr>
          <a:xfrm>
            <a:off x="1832253" y="5301496"/>
            <a:ext cx="6670477" cy="879396"/>
          </a:xfrm>
          <a:prstGeom prst="rect">
            <a:avLst/>
          </a:prstGeom>
          <a:noFill/>
          <a:ln/>
        </p:spPr>
        <p:txBody>
          <a:bodyPr wrap="square" lIns="0" tIns="0" rIns="0" bIns="0" rtlCol="0" anchor="t"/>
          <a:lstStyle/>
          <a:p>
            <a:pPr algn="l" indent="0" marL="0">
              <a:lnSpc>
                <a:spcPts val="2300"/>
              </a:lnSpc>
              <a:buNone/>
            </a:pPr>
            <a:r>
              <a:rPr lang="en-US" sz="1400" dirty="0">
                <a:solidFill>
                  <a:srgbClr val="383838"/>
                </a:solidFill>
                <a:latin typeface="DM Sans" pitchFamily="34" charset="0"/>
                <a:ea typeface="DM Sans" pitchFamily="34" charset="-122"/>
                <a:cs typeface="DM Sans" pitchFamily="34" charset="-120"/>
              </a:rPr>
              <a:t>HOG descriptors extract rich features which are reduced via PCA to 2100 dimensions, followed by Logistic Regression for multiclass disease classification.</a:t>
            </a:r>
            <a:endParaRPr lang="en-US" sz="1400" dirty="0"/>
          </a:p>
        </p:txBody>
      </p:sp>
      <p:pic>
        <p:nvPicPr>
          <p:cNvPr id="13" name="Image 4" descr="preencoded.png">    </p:cNvPr>
          <p:cNvPicPr>
            <a:picLocks noChangeAspect="1"/>
          </p:cNvPicPr>
          <p:nvPr/>
        </p:nvPicPr>
        <p:blipFill>
          <a:blip r:embed="rId5"/>
          <a:stretch>
            <a:fillRect/>
          </a:stretch>
        </p:blipFill>
        <p:spPr>
          <a:xfrm>
            <a:off x="641271" y="6364129"/>
            <a:ext cx="916186" cy="1363266"/>
          </a:xfrm>
          <a:prstGeom prst="rect">
            <a:avLst/>
          </a:prstGeom>
        </p:spPr>
      </p:pic>
      <p:sp>
        <p:nvSpPr>
          <p:cNvPr id="14" name="Text 7"/>
          <p:cNvSpPr/>
          <p:nvPr/>
        </p:nvSpPr>
        <p:spPr>
          <a:xfrm>
            <a:off x="1832253" y="6547366"/>
            <a:ext cx="2405062" cy="300633"/>
          </a:xfrm>
          <a:prstGeom prst="rect">
            <a:avLst/>
          </a:prstGeom>
          <a:noFill/>
          <a:ln/>
        </p:spPr>
        <p:txBody>
          <a:bodyPr wrap="none" lIns="0" tIns="0" rIns="0" bIns="0" rtlCol="0" anchor="t"/>
          <a:lstStyle/>
          <a:p>
            <a:pPr algn="l" indent="0" marL="0">
              <a:lnSpc>
                <a:spcPts val="2350"/>
              </a:lnSpc>
              <a:buNone/>
            </a:pPr>
            <a:r>
              <a:rPr lang="en-US" sz="1850" dirty="0">
                <a:solidFill>
                  <a:srgbClr val="383838"/>
                </a:solidFill>
                <a:latin typeface="PT Serif" pitchFamily="34" charset="0"/>
                <a:ea typeface="PT Serif" pitchFamily="34" charset="-122"/>
                <a:cs typeface="PT Serif" pitchFamily="34" charset="-120"/>
              </a:rPr>
              <a:t>Alert Mechanism</a:t>
            </a:r>
            <a:endParaRPr lang="en-US" sz="1850" dirty="0"/>
          </a:p>
        </p:txBody>
      </p:sp>
      <p:sp>
        <p:nvSpPr>
          <p:cNvPr id="15" name="Text 8"/>
          <p:cNvSpPr/>
          <p:nvPr/>
        </p:nvSpPr>
        <p:spPr>
          <a:xfrm>
            <a:off x="1832253" y="6957893"/>
            <a:ext cx="6670477" cy="586264"/>
          </a:xfrm>
          <a:prstGeom prst="rect">
            <a:avLst/>
          </a:prstGeom>
          <a:noFill/>
          <a:ln/>
        </p:spPr>
        <p:txBody>
          <a:bodyPr wrap="square" lIns="0" tIns="0" rIns="0" bIns="0" rtlCol="0" anchor="t"/>
          <a:lstStyle/>
          <a:p>
            <a:pPr algn="l" indent="0" marL="0">
              <a:lnSpc>
                <a:spcPts val="2300"/>
              </a:lnSpc>
              <a:buNone/>
            </a:pPr>
            <a:r>
              <a:rPr lang="en-US" sz="1400" dirty="0">
                <a:solidFill>
                  <a:srgbClr val="383838"/>
                </a:solidFill>
                <a:latin typeface="DM Sans" pitchFamily="34" charset="0"/>
                <a:ea typeface="DM Sans" pitchFamily="34" charset="-122"/>
                <a:cs typeface="DM Sans" pitchFamily="34" charset="-120"/>
              </a:rPr>
              <a:t>System sends notifications with geolocation data to farmers for real-time disease mitigation and precision intervention.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56020" y="779740"/>
            <a:ext cx="7604760" cy="1443038"/>
          </a:xfrm>
          <a:prstGeom prst="rect">
            <a:avLst/>
          </a:prstGeom>
          <a:noFill/>
          <a:ln/>
        </p:spPr>
        <p:txBody>
          <a:bodyPr wrap="square" lIns="0" tIns="0" rIns="0" bIns="0" rtlCol="0" anchor="t"/>
          <a:lstStyle/>
          <a:p>
            <a:pPr algn="l" indent="0" marL="0">
              <a:lnSpc>
                <a:spcPts val="5650"/>
              </a:lnSpc>
              <a:buNone/>
            </a:pPr>
            <a:r>
              <a:rPr lang="en-US" sz="4500" dirty="0">
                <a:solidFill>
                  <a:srgbClr val="020202"/>
                </a:solidFill>
                <a:latin typeface="PT Serif" pitchFamily="34" charset="0"/>
                <a:ea typeface="PT Serif" pitchFamily="34" charset="-122"/>
                <a:cs typeface="PT Serif" pitchFamily="34" charset="-120"/>
              </a:rPr>
              <a:t>Experimental Setup and Test Cases</a:t>
            </a:r>
            <a:endParaRPr lang="en-US" sz="4500" dirty="0"/>
          </a:p>
        </p:txBody>
      </p:sp>
      <p:sp>
        <p:nvSpPr>
          <p:cNvPr id="4" name="Shape 1"/>
          <p:cNvSpPr/>
          <p:nvPr/>
        </p:nvSpPr>
        <p:spPr>
          <a:xfrm>
            <a:off x="6256020" y="2552581"/>
            <a:ext cx="7604760" cy="3594378"/>
          </a:xfrm>
          <a:prstGeom prst="roundRect">
            <a:avLst>
              <a:gd name="adj" fmla="val 918"/>
            </a:avLst>
          </a:prstGeom>
          <a:noFill/>
          <a:ln w="7620">
            <a:solidFill>
              <a:srgbClr val="000000">
                <a:alpha val="8000"/>
              </a:srgbClr>
            </a:solidFill>
            <a:prstDash val="solid"/>
          </a:ln>
        </p:spPr>
      </p:sp>
      <p:sp>
        <p:nvSpPr>
          <p:cNvPr id="5" name="Shape 2"/>
          <p:cNvSpPr/>
          <p:nvPr/>
        </p:nvSpPr>
        <p:spPr>
          <a:xfrm>
            <a:off x="6263640" y="2560201"/>
            <a:ext cx="7588687" cy="630912"/>
          </a:xfrm>
          <a:prstGeom prst="rect">
            <a:avLst/>
          </a:prstGeom>
          <a:solidFill>
            <a:srgbClr val="FFFFFF">
              <a:alpha val="4000"/>
            </a:srgbClr>
          </a:solidFill>
          <a:ln/>
        </p:spPr>
      </p:sp>
      <p:sp>
        <p:nvSpPr>
          <p:cNvPr id="6" name="Text 3"/>
          <p:cNvSpPr/>
          <p:nvPr/>
        </p:nvSpPr>
        <p:spPr>
          <a:xfrm>
            <a:off x="6484382" y="2699742"/>
            <a:ext cx="2085856" cy="351830"/>
          </a:xfrm>
          <a:prstGeom prst="rect">
            <a:avLst/>
          </a:prstGeom>
          <a:noFill/>
          <a:ln/>
        </p:spPr>
        <p:txBody>
          <a:bodyPr wrap="none" lIns="0" tIns="0" rIns="0" bIns="0" rtlCol="0" anchor="t"/>
          <a:lstStyle/>
          <a:p>
            <a:pPr algn="l" indent="0" marL="0">
              <a:lnSpc>
                <a:spcPts val="2750"/>
              </a:lnSpc>
              <a:buNone/>
            </a:pPr>
            <a:r>
              <a:rPr lang="en-US" sz="1700" dirty="0">
                <a:solidFill>
                  <a:srgbClr val="383838"/>
                </a:solidFill>
                <a:latin typeface="DM Sans" pitchFamily="34" charset="0"/>
                <a:ea typeface="DM Sans" pitchFamily="34" charset="-122"/>
                <a:cs typeface="DM Sans" pitchFamily="34" charset="-120"/>
              </a:rPr>
              <a:t>Disease Class</a:t>
            </a:r>
            <a:endParaRPr lang="en-US" sz="1700" dirty="0"/>
          </a:p>
        </p:txBody>
      </p:sp>
      <p:sp>
        <p:nvSpPr>
          <p:cNvPr id="7" name="Text 4"/>
          <p:cNvSpPr/>
          <p:nvPr/>
        </p:nvSpPr>
        <p:spPr>
          <a:xfrm>
            <a:off x="9017437" y="2699742"/>
            <a:ext cx="2082046" cy="351830"/>
          </a:xfrm>
          <a:prstGeom prst="rect">
            <a:avLst/>
          </a:prstGeom>
          <a:noFill/>
          <a:ln/>
        </p:spPr>
        <p:txBody>
          <a:bodyPr wrap="none" lIns="0" tIns="0" rIns="0" bIns="0" rtlCol="0" anchor="t"/>
          <a:lstStyle/>
          <a:p>
            <a:pPr algn="l" indent="0" marL="0">
              <a:lnSpc>
                <a:spcPts val="2750"/>
              </a:lnSpc>
              <a:buNone/>
            </a:pPr>
            <a:r>
              <a:rPr lang="en-US" sz="1700" dirty="0">
                <a:solidFill>
                  <a:srgbClr val="383838"/>
                </a:solidFill>
                <a:latin typeface="DM Sans" pitchFamily="34" charset="0"/>
                <a:ea typeface="DM Sans" pitchFamily="34" charset="-122"/>
                <a:cs typeface="DM Sans" pitchFamily="34" charset="-120"/>
              </a:rPr>
              <a:t>Samples</a:t>
            </a:r>
            <a:endParaRPr lang="en-US" sz="1700" dirty="0"/>
          </a:p>
        </p:txBody>
      </p:sp>
      <p:sp>
        <p:nvSpPr>
          <p:cNvPr id="8" name="Text 5"/>
          <p:cNvSpPr/>
          <p:nvPr/>
        </p:nvSpPr>
        <p:spPr>
          <a:xfrm>
            <a:off x="11546681" y="2699742"/>
            <a:ext cx="2085856" cy="351830"/>
          </a:xfrm>
          <a:prstGeom prst="rect">
            <a:avLst/>
          </a:prstGeom>
          <a:noFill/>
          <a:ln/>
        </p:spPr>
        <p:txBody>
          <a:bodyPr wrap="none" lIns="0" tIns="0" rIns="0" bIns="0" rtlCol="0" anchor="t"/>
          <a:lstStyle/>
          <a:p>
            <a:pPr algn="l" indent="0" marL="0">
              <a:lnSpc>
                <a:spcPts val="2750"/>
              </a:lnSpc>
              <a:buNone/>
            </a:pPr>
            <a:r>
              <a:rPr lang="en-US" sz="1700" dirty="0">
                <a:solidFill>
                  <a:srgbClr val="383838"/>
                </a:solidFill>
                <a:latin typeface="DM Sans" pitchFamily="34" charset="0"/>
                <a:ea typeface="DM Sans" pitchFamily="34" charset="-122"/>
                <a:cs typeface="DM Sans" pitchFamily="34" charset="-120"/>
              </a:rPr>
              <a:t>Data Split</a:t>
            </a:r>
            <a:endParaRPr lang="en-US" sz="1700" dirty="0"/>
          </a:p>
        </p:txBody>
      </p:sp>
      <p:sp>
        <p:nvSpPr>
          <p:cNvPr id="9" name="Shape 6"/>
          <p:cNvSpPr/>
          <p:nvPr/>
        </p:nvSpPr>
        <p:spPr>
          <a:xfrm>
            <a:off x="6263640" y="3191113"/>
            <a:ext cx="7588687" cy="982742"/>
          </a:xfrm>
          <a:prstGeom prst="rect">
            <a:avLst/>
          </a:prstGeom>
          <a:solidFill>
            <a:srgbClr val="000000">
              <a:alpha val="4000"/>
            </a:srgbClr>
          </a:solidFill>
          <a:ln/>
        </p:spPr>
      </p:sp>
      <p:sp>
        <p:nvSpPr>
          <p:cNvPr id="10" name="Text 7"/>
          <p:cNvSpPr/>
          <p:nvPr/>
        </p:nvSpPr>
        <p:spPr>
          <a:xfrm>
            <a:off x="6484382" y="3330654"/>
            <a:ext cx="2085856" cy="703659"/>
          </a:xfrm>
          <a:prstGeom prst="rect">
            <a:avLst/>
          </a:prstGeom>
          <a:noFill/>
          <a:ln/>
        </p:spPr>
        <p:txBody>
          <a:bodyPr wrap="square" lIns="0" tIns="0" rIns="0" bIns="0" rtlCol="0" anchor="t"/>
          <a:lstStyle/>
          <a:p>
            <a:pPr algn="l" indent="0" marL="0">
              <a:lnSpc>
                <a:spcPts val="2750"/>
              </a:lnSpc>
              <a:buNone/>
            </a:pPr>
            <a:r>
              <a:rPr lang="en-US" sz="1700" dirty="0">
                <a:solidFill>
                  <a:srgbClr val="383838"/>
                </a:solidFill>
                <a:latin typeface="DM Sans" pitchFamily="34" charset="0"/>
                <a:ea typeface="DM Sans" pitchFamily="34" charset="-122"/>
                <a:cs typeface="DM Sans" pitchFamily="34" charset="-120"/>
              </a:rPr>
              <a:t>Pepper Bell - Bacterial Spot</a:t>
            </a:r>
            <a:endParaRPr lang="en-US" sz="1700" dirty="0"/>
          </a:p>
        </p:txBody>
      </p:sp>
      <p:sp>
        <p:nvSpPr>
          <p:cNvPr id="11" name="Text 8"/>
          <p:cNvSpPr/>
          <p:nvPr/>
        </p:nvSpPr>
        <p:spPr>
          <a:xfrm>
            <a:off x="9017437" y="3330654"/>
            <a:ext cx="2082046" cy="351830"/>
          </a:xfrm>
          <a:prstGeom prst="rect">
            <a:avLst/>
          </a:prstGeom>
          <a:noFill/>
          <a:ln/>
        </p:spPr>
        <p:txBody>
          <a:bodyPr wrap="none" lIns="0" tIns="0" rIns="0" bIns="0" rtlCol="0" anchor="t"/>
          <a:lstStyle/>
          <a:p>
            <a:pPr algn="l" indent="0" marL="0">
              <a:lnSpc>
                <a:spcPts val="2750"/>
              </a:lnSpc>
              <a:buNone/>
            </a:pPr>
            <a:r>
              <a:rPr lang="en-US" sz="1700" dirty="0">
                <a:solidFill>
                  <a:srgbClr val="383838"/>
                </a:solidFill>
                <a:latin typeface="DM Sans" pitchFamily="34" charset="0"/>
                <a:ea typeface="DM Sans" pitchFamily="34" charset="-122"/>
                <a:cs typeface="DM Sans" pitchFamily="34" charset="-120"/>
              </a:rPr>
              <a:t>249</a:t>
            </a:r>
            <a:endParaRPr lang="en-US" sz="1700" dirty="0"/>
          </a:p>
        </p:txBody>
      </p:sp>
      <p:sp>
        <p:nvSpPr>
          <p:cNvPr id="12" name="Text 9"/>
          <p:cNvSpPr/>
          <p:nvPr/>
        </p:nvSpPr>
        <p:spPr>
          <a:xfrm>
            <a:off x="11546681" y="3330654"/>
            <a:ext cx="2085856" cy="703659"/>
          </a:xfrm>
          <a:prstGeom prst="rect">
            <a:avLst/>
          </a:prstGeom>
          <a:noFill/>
          <a:ln/>
        </p:spPr>
        <p:txBody>
          <a:bodyPr wrap="square" lIns="0" tIns="0" rIns="0" bIns="0" rtlCol="0" anchor="t"/>
          <a:lstStyle/>
          <a:p>
            <a:pPr algn="l" indent="0" marL="0">
              <a:lnSpc>
                <a:spcPts val="2750"/>
              </a:lnSpc>
              <a:buNone/>
            </a:pPr>
            <a:r>
              <a:rPr lang="en-US" sz="1700" dirty="0">
                <a:solidFill>
                  <a:srgbClr val="383838"/>
                </a:solidFill>
                <a:latin typeface="DM Sans" pitchFamily="34" charset="0"/>
                <a:ea typeface="DM Sans" pitchFamily="34" charset="-122"/>
                <a:cs typeface="DM Sans" pitchFamily="34" charset="-120"/>
              </a:rPr>
              <a:t>Training 75% / Testing 25%</a:t>
            </a:r>
            <a:endParaRPr lang="en-US" sz="1700" dirty="0"/>
          </a:p>
        </p:txBody>
      </p:sp>
      <p:sp>
        <p:nvSpPr>
          <p:cNvPr id="13" name="Shape 10"/>
          <p:cNvSpPr/>
          <p:nvPr/>
        </p:nvSpPr>
        <p:spPr>
          <a:xfrm>
            <a:off x="6263640" y="4173855"/>
            <a:ext cx="7588687" cy="982742"/>
          </a:xfrm>
          <a:prstGeom prst="rect">
            <a:avLst/>
          </a:prstGeom>
          <a:solidFill>
            <a:srgbClr val="FFFFFF">
              <a:alpha val="4000"/>
            </a:srgbClr>
          </a:solidFill>
          <a:ln/>
        </p:spPr>
      </p:sp>
      <p:sp>
        <p:nvSpPr>
          <p:cNvPr id="14" name="Text 11"/>
          <p:cNvSpPr/>
          <p:nvPr/>
        </p:nvSpPr>
        <p:spPr>
          <a:xfrm>
            <a:off x="6484382" y="4313396"/>
            <a:ext cx="2085856" cy="351830"/>
          </a:xfrm>
          <a:prstGeom prst="rect">
            <a:avLst/>
          </a:prstGeom>
          <a:noFill/>
          <a:ln/>
        </p:spPr>
        <p:txBody>
          <a:bodyPr wrap="none" lIns="0" tIns="0" rIns="0" bIns="0" rtlCol="0" anchor="t"/>
          <a:lstStyle/>
          <a:p>
            <a:pPr algn="l" indent="0" marL="0">
              <a:lnSpc>
                <a:spcPts val="2750"/>
              </a:lnSpc>
              <a:buNone/>
            </a:pPr>
            <a:r>
              <a:rPr lang="en-US" sz="1700" dirty="0">
                <a:solidFill>
                  <a:srgbClr val="383838"/>
                </a:solidFill>
                <a:latin typeface="DM Sans" pitchFamily="34" charset="0"/>
                <a:ea typeface="DM Sans" pitchFamily="34" charset="-122"/>
                <a:cs typeface="DM Sans" pitchFamily="34" charset="-120"/>
              </a:rPr>
              <a:t>Potato - Late Blight</a:t>
            </a:r>
            <a:endParaRPr lang="en-US" sz="1700" dirty="0"/>
          </a:p>
        </p:txBody>
      </p:sp>
      <p:sp>
        <p:nvSpPr>
          <p:cNvPr id="15" name="Text 12"/>
          <p:cNvSpPr/>
          <p:nvPr/>
        </p:nvSpPr>
        <p:spPr>
          <a:xfrm>
            <a:off x="9017437" y="4313396"/>
            <a:ext cx="2082046" cy="351830"/>
          </a:xfrm>
          <a:prstGeom prst="rect">
            <a:avLst/>
          </a:prstGeom>
          <a:noFill/>
          <a:ln/>
        </p:spPr>
        <p:txBody>
          <a:bodyPr wrap="none" lIns="0" tIns="0" rIns="0" bIns="0" rtlCol="0" anchor="t"/>
          <a:lstStyle/>
          <a:p>
            <a:pPr algn="l" indent="0" marL="0">
              <a:lnSpc>
                <a:spcPts val="2750"/>
              </a:lnSpc>
              <a:buNone/>
            </a:pPr>
            <a:r>
              <a:rPr lang="en-US" sz="1700" dirty="0">
                <a:solidFill>
                  <a:srgbClr val="383838"/>
                </a:solidFill>
                <a:latin typeface="DM Sans" pitchFamily="34" charset="0"/>
                <a:ea typeface="DM Sans" pitchFamily="34" charset="-122"/>
                <a:cs typeface="DM Sans" pitchFamily="34" charset="-120"/>
              </a:rPr>
              <a:t>250</a:t>
            </a:r>
            <a:endParaRPr lang="en-US" sz="1700" dirty="0"/>
          </a:p>
        </p:txBody>
      </p:sp>
      <p:sp>
        <p:nvSpPr>
          <p:cNvPr id="16" name="Text 13"/>
          <p:cNvSpPr/>
          <p:nvPr/>
        </p:nvSpPr>
        <p:spPr>
          <a:xfrm>
            <a:off x="11546681" y="4313396"/>
            <a:ext cx="2085856" cy="703659"/>
          </a:xfrm>
          <a:prstGeom prst="rect">
            <a:avLst/>
          </a:prstGeom>
          <a:noFill/>
          <a:ln/>
        </p:spPr>
        <p:txBody>
          <a:bodyPr wrap="square" lIns="0" tIns="0" rIns="0" bIns="0" rtlCol="0" anchor="t"/>
          <a:lstStyle/>
          <a:p>
            <a:pPr algn="l" indent="0" marL="0">
              <a:lnSpc>
                <a:spcPts val="2750"/>
              </a:lnSpc>
              <a:buNone/>
            </a:pPr>
            <a:r>
              <a:rPr lang="en-US" sz="1700" dirty="0">
                <a:solidFill>
                  <a:srgbClr val="383838"/>
                </a:solidFill>
                <a:latin typeface="DM Sans" pitchFamily="34" charset="0"/>
                <a:ea typeface="DM Sans" pitchFamily="34" charset="-122"/>
                <a:cs typeface="DM Sans" pitchFamily="34" charset="-120"/>
              </a:rPr>
              <a:t>Training 75% / Testing 25%</a:t>
            </a:r>
            <a:endParaRPr lang="en-US" sz="1700" dirty="0"/>
          </a:p>
        </p:txBody>
      </p:sp>
      <p:sp>
        <p:nvSpPr>
          <p:cNvPr id="17" name="Shape 14"/>
          <p:cNvSpPr/>
          <p:nvPr/>
        </p:nvSpPr>
        <p:spPr>
          <a:xfrm>
            <a:off x="6263640" y="5156597"/>
            <a:ext cx="7588687" cy="982742"/>
          </a:xfrm>
          <a:prstGeom prst="rect">
            <a:avLst/>
          </a:prstGeom>
          <a:solidFill>
            <a:srgbClr val="000000">
              <a:alpha val="4000"/>
            </a:srgbClr>
          </a:solidFill>
          <a:ln/>
        </p:spPr>
      </p:sp>
      <p:sp>
        <p:nvSpPr>
          <p:cNvPr id="18" name="Text 15"/>
          <p:cNvSpPr/>
          <p:nvPr/>
        </p:nvSpPr>
        <p:spPr>
          <a:xfrm>
            <a:off x="6484382" y="5296138"/>
            <a:ext cx="2085856" cy="351830"/>
          </a:xfrm>
          <a:prstGeom prst="rect">
            <a:avLst/>
          </a:prstGeom>
          <a:noFill/>
          <a:ln/>
        </p:spPr>
        <p:txBody>
          <a:bodyPr wrap="none" lIns="0" tIns="0" rIns="0" bIns="0" rtlCol="0" anchor="t"/>
          <a:lstStyle/>
          <a:p>
            <a:pPr algn="l" indent="0" marL="0">
              <a:lnSpc>
                <a:spcPts val="2750"/>
              </a:lnSpc>
              <a:buNone/>
            </a:pPr>
            <a:r>
              <a:rPr lang="en-US" sz="1700" dirty="0">
                <a:solidFill>
                  <a:srgbClr val="383838"/>
                </a:solidFill>
                <a:latin typeface="DM Sans" pitchFamily="34" charset="0"/>
                <a:ea typeface="DM Sans" pitchFamily="34" charset="-122"/>
                <a:cs typeface="DM Sans" pitchFamily="34" charset="-120"/>
              </a:rPr>
              <a:t>Tomato - Late Blight</a:t>
            </a:r>
            <a:endParaRPr lang="en-US" sz="1700" dirty="0"/>
          </a:p>
        </p:txBody>
      </p:sp>
      <p:sp>
        <p:nvSpPr>
          <p:cNvPr id="19" name="Text 16"/>
          <p:cNvSpPr/>
          <p:nvPr/>
        </p:nvSpPr>
        <p:spPr>
          <a:xfrm>
            <a:off x="9017437" y="5296138"/>
            <a:ext cx="2082046" cy="351830"/>
          </a:xfrm>
          <a:prstGeom prst="rect">
            <a:avLst/>
          </a:prstGeom>
          <a:noFill/>
          <a:ln/>
        </p:spPr>
        <p:txBody>
          <a:bodyPr wrap="none" lIns="0" tIns="0" rIns="0" bIns="0" rtlCol="0" anchor="t"/>
          <a:lstStyle/>
          <a:p>
            <a:pPr algn="l" indent="0" marL="0">
              <a:lnSpc>
                <a:spcPts val="2750"/>
              </a:lnSpc>
              <a:buNone/>
            </a:pPr>
            <a:r>
              <a:rPr lang="en-US" sz="1700" dirty="0">
                <a:solidFill>
                  <a:srgbClr val="383838"/>
                </a:solidFill>
                <a:latin typeface="DM Sans" pitchFamily="34" charset="0"/>
                <a:ea typeface="DM Sans" pitchFamily="34" charset="-122"/>
                <a:cs typeface="DM Sans" pitchFamily="34" charset="-120"/>
              </a:rPr>
              <a:t>478</a:t>
            </a:r>
            <a:endParaRPr lang="en-US" sz="1700" dirty="0"/>
          </a:p>
        </p:txBody>
      </p:sp>
      <p:sp>
        <p:nvSpPr>
          <p:cNvPr id="20" name="Text 17"/>
          <p:cNvSpPr/>
          <p:nvPr/>
        </p:nvSpPr>
        <p:spPr>
          <a:xfrm>
            <a:off x="11546681" y="5296138"/>
            <a:ext cx="2085856" cy="703659"/>
          </a:xfrm>
          <a:prstGeom prst="rect">
            <a:avLst/>
          </a:prstGeom>
          <a:noFill/>
          <a:ln/>
        </p:spPr>
        <p:txBody>
          <a:bodyPr wrap="square" lIns="0" tIns="0" rIns="0" bIns="0" rtlCol="0" anchor="t"/>
          <a:lstStyle/>
          <a:p>
            <a:pPr algn="l" indent="0" marL="0">
              <a:lnSpc>
                <a:spcPts val="2750"/>
              </a:lnSpc>
              <a:buNone/>
            </a:pPr>
            <a:r>
              <a:rPr lang="en-US" sz="1700" dirty="0">
                <a:solidFill>
                  <a:srgbClr val="383838"/>
                </a:solidFill>
                <a:latin typeface="DM Sans" pitchFamily="34" charset="0"/>
                <a:ea typeface="DM Sans" pitchFamily="34" charset="-122"/>
                <a:cs typeface="DM Sans" pitchFamily="34" charset="-120"/>
              </a:rPr>
              <a:t>Training 75% / Testing 25%</a:t>
            </a:r>
            <a:endParaRPr lang="en-US" sz="1700" dirty="0"/>
          </a:p>
        </p:txBody>
      </p:sp>
      <p:sp>
        <p:nvSpPr>
          <p:cNvPr id="21" name="Text 18"/>
          <p:cNvSpPr/>
          <p:nvPr/>
        </p:nvSpPr>
        <p:spPr>
          <a:xfrm>
            <a:off x="6256020" y="6394252"/>
            <a:ext cx="7604760" cy="1055489"/>
          </a:xfrm>
          <a:prstGeom prst="rect">
            <a:avLst/>
          </a:prstGeom>
          <a:noFill/>
          <a:ln/>
        </p:spPr>
        <p:txBody>
          <a:bodyPr wrap="square" lIns="0" tIns="0" rIns="0" bIns="0" rtlCol="0" anchor="t"/>
          <a:lstStyle/>
          <a:p>
            <a:pPr algn="l" indent="0" marL="0">
              <a:lnSpc>
                <a:spcPts val="2750"/>
              </a:lnSpc>
              <a:buNone/>
            </a:pPr>
            <a:r>
              <a:rPr lang="en-US" sz="1700" dirty="0">
                <a:solidFill>
                  <a:srgbClr val="383838"/>
                </a:solidFill>
                <a:latin typeface="DM Sans" pitchFamily="34" charset="0"/>
                <a:ea typeface="DM Sans" pitchFamily="34" charset="-122"/>
                <a:cs typeface="DM Sans" pitchFamily="34" charset="-120"/>
              </a:rPr>
              <a:t>Images from the PlantVillage dataset were randomized and preprocessed before feature extraction. Each test image was passed through the pipeline to validate classification efficacy for multiple disease types.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76156" y="919282"/>
            <a:ext cx="7595711" cy="633770"/>
          </a:xfrm>
          <a:prstGeom prst="rect">
            <a:avLst/>
          </a:prstGeom>
          <a:noFill/>
          <a:ln/>
        </p:spPr>
        <p:txBody>
          <a:bodyPr wrap="none" lIns="0" tIns="0" rIns="0" bIns="0" rtlCol="0" anchor="t"/>
          <a:lstStyle/>
          <a:p>
            <a:pPr algn="l" indent="0" marL="0">
              <a:lnSpc>
                <a:spcPts val="4950"/>
              </a:lnSpc>
              <a:buNone/>
            </a:pPr>
            <a:r>
              <a:rPr lang="en-US" sz="3950" dirty="0">
                <a:solidFill>
                  <a:srgbClr val="020202"/>
                </a:solidFill>
                <a:latin typeface="PT Serif" pitchFamily="34" charset="0"/>
                <a:ea typeface="PT Serif" pitchFamily="34" charset="-122"/>
                <a:cs typeface="PT Serif" pitchFamily="34" charset="-120"/>
              </a:rPr>
              <a:t>Results and Performance Analysis</a:t>
            </a:r>
            <a:endParaRPr lang="en-US" sz="3950" dirty="0"/>
          </a:p>
        </p:txBody>
      </p:sp>
      <p:sp>
        <p:nvSpPr>
          <p:cNvPr id="4" name="Text 1"/>
          <p:cNvSpPr/>
          <p:nvPr/>
        </p:nvSpPr>
        <p:spPr>
          <a:xfrm>
            <a:off x="676156" y="1939290"/>
            <a:ext cx="3750945" cy="637461"/>
          </a:xfrm>
          <a:prstGeom prst="rect">
            <a:avLst/>
          </a:prstGeom>
          <a:noFill/>
          <a:ln/>
        </p:spPr>
        <p:txBody>
          <a:bodyPr wrap="none" lIns="0" tIns="0" rIns="0" bIns="0" rtlCol="0" anchor="t"/>
          <a:lstStyle/>
          <a:p>
            <a:pPr algn="ctr" indent="0" marL="0">
              <a:lnSpc>
                <a:spcPts val="5000"/>
              </a:lnSpc>
              <a:buNone/>
            </a:pPr>
            <a:r>
              <a:rPr lang="en-US" sz="5000" dirty="0">
                <a:solidFill>
                  <a:srgbClr val="383838"/>
                </a:solidFill>
                <a:latin typeface="PT Serif" pitchFamily="34" charset="0"/>
                <a:ea typeface="PT Serif" pitchFamily="34" charset="-122"/>
                <a:cs typeface="PT Serif" pitchFamily="34" charset="-120"/>
              </a:rPr>
              <a:t>88.02%</a:t>
            </a:r>
            <a:endParaRPr lang="en-US" sz="5000" dirty="0"/>
          </a:p>
        </p:txBody>
      </p:sp>
      <p:sp>
        <p:nvSpPr>
          <p:cNvPr id="5" name="Text 2"/>
          <p:cNvSpPr/>
          <p:nvPr/>
        </p:nvSpPr>
        <p:spPr>
          <a:xfrm>
            <a:off x="1283851" y="2818090"/>
            <a:ext cx="2535555" cy="316944"/>
          </a:xfrm>
          <a:prstGeom prst="rect">
            <a:avLst/>
          </a:prstGeom>
          <a:noFill/>
          <a:ln/>
        </p:spPr>
        <p:txBody>
          <a:bodyPr wrap="none" lIns="0" tIns="0" rIns="0" bIns="0" rtlCol="0" anchor="t"/>
          <a:lstStyle/>
          <a:p>
            <a:pPr algn="ctr" indent="0" marL="0">
              <a:lnSpc>
                <a:spcPts val="2450"/>
              </a:lnSpc>
              <a:buNone/>
            </a:pPr>
            <a:r>
              <a:rPr lang="en-US" sz="1950" dirty="0">
                <a:solidFill>
                  <a:srgbClr val="383838"/>
                </a:solidFill>
                <a:latin typeface="PT Serif" pitchFamily="34" charset="0"/>
                <a:ea typeface="PT Serif" pitchFamily="34" charset="-122"/>
                <a:cs typeface="PT Serif" pitchFamily="34" charset="-120"/>
              </a:rPr>
              <a:t>Overall Accuracy</a:t>
            </a:r>
            <a:endParaRPr lang="en-US" sz="1950" dirty="0"/>
          </a:p>
        </p:txBody>
      </p:sp>
      <p:sp>
        <p:nvSpPr>
          <p:cNvPr id="6" name="Text 3"/>
          <p:cNvSpPr/>
          <p:nvPr/>
        </p:nvSpPr>
        <p:spPr>
          <a:xfrm>
            <a:off x="676156" y="3250883"/>
            <a:ext cx="3750945" cy="618173"/>
          </a:xfrm>
          <a:prstGeom prst="rect">
            <a:avLst/>
          </a:prstGeom>
          <a:noFill/>
          <a:ln/>
        </p:spPr>
        <p:txBody>
          <a:bodyPr wrap="square" lIns="0" tIns="0" rIns="0" bIns="0" rtlCol="0" anchor="t"/>
          <a:lstStyle/>
          <a:p>
            <a:pPr algn="ctr" indent="0" marL="0">
              <a:lnSpc>
                <a:spcPts val="2400"/>
              </a:lnSpc>
              <a:buNone/>
            </a:pPr>
            <a:r>
              <a:rPr lang="en-US" sz="1500" dirty="0">
                <a:solidFill>
                  <a:srgbClr val="383838"/>
                </a:solidFill>
                <a:latin typeface="DM Sans" pitchFamily="34" charset="0"/>
                <a:ea typeface="DM Sans" pitchFamily="34" charset="-122"/>
                <a:cs typeface="DM Sans" pitchFamily="34" charset="-120"/>
              </a:rPr>
              <a:t>High performance on multiclass crop disease detection from UAV images.</a:t>
            </a:r>
            <a:endParaRPr lang="en-US" sz="1500" dirty="0"/>
          </a:p>
        </p:txBody>
      </p:sp>
      <p:sp>
        <p:nvSpPr>
          <p:cNvPr id="7" name="Text 4"/>
          <p:cNvSpPr/>
          <p:nvPr/>
        </p:nvSpPr>
        <p:spPr>
          <a:xfrm>
            <a:off x="4716780" y="1939290"/>
            <a:ext cx="3751064" cy="637461"/>
          </a:xfrm>
          <a:prstGeom prst="rect">
            <a:avLst/>
          </a:prstGeom>
          <a:noFill/>
          <a:ln/>
        </p:spPr>
        <p:txBody>
          <a:bodyPr wrap="none" lIns="0" tIns="0" rIns="0" bIns="0" rtlCol="0" anchor="t"/>
          <a:lstStyle/>
          <a:p>
            <a:pPr algn="ctr" indent="0" marL="0">
              <a:lnSpc>
                <a:spcPts val="5000"/>
              </a:lnSpc>
              <a:buNone/>
            </a:pPr>
            <a:r>
              <a:rPr lang="en-US" sz="5000" dirty="0">
                <a:solidFill>
                  <a:srgbClr val="383838"/>
                </a:solidFill>
                <a:latin typeface="PT Serif" pitchFamily="34" charset="0"/>
                <a:ea typeface="PT Serif" pitchFamily="34" charset="-122"/>
                <a:cs typeface="PT Serif" pitchFamily="34" charset="-120"/>
              </a:rPr>
              <a:t>0.88</a:t>
            </a:r>
            <a:endParaRPr lang="en-US" sz="5000" dirty="0"/>
          </a:p>
        </p:txBody>
      </p:sp>
      <p:sp>
        <p:nvSpPr>
          <p:cNvPr id="8" name="Text 5"/>
          <p:cNvSpPr/>
          <p:nvPr/>
        </p:nvSpPr>
        <p:spPr>
          <a:xfrm>
            <a:off x="5324475" y="2818090"/>
            <a:ext cx="2535555" cy="316944"/>
          </a:xfrm>
          <a:prstGeom prst="rect">
            <a:avLst/>
          </a:prstGeom>
          <a:noFill/>
          <a:ln/>
        </p:spPr>
        <p:txBody>
          <a:bodyPr wrap="none" lIns="0" tIns="0" rIns="0" bIns="0" rtlCol="0" anchor="t"/>
          <a:lstStyle/>
          <a:p>
            <a:pPr algn="ctr" indent="0" marL="0">
              <a:lnSpc>
                <a:spcPts val="2450"/>
              </a:lnSpc>
              <a:buNone/>
            </a:pPr>
            <a:r>
              <a:rPr lang="en-US" sz="1950" dirty="0">
                <a:solidFill>
                  <a:srgbClr val="383838"/>
                </a:solidFill>
                <a:latin typeface="PT Serif" pitchFamily="34" charset="0"/>
                <a:ea typeface="PT Serif" pitchFamily="34" charset="-122"/>
                <a:cs typeface="PT Serif" pitchFamily="34" charset="-120"/>
              </a:rPr>
              <a:t>Average F1-Score</a:t>
            </a:r>
            <a:endParaRPr lang="en-US" sz="1950" dirty="0"/>
          </a:p>
        </p:txBody>
      </p:sp>
      <p:sp>
        <p:nvSpPr>
          <p:cNvPr id="9" name="Text 6"/>
          <p:cNvSpPr/>
          <p:nvPr/>
        </p:nvSpPr>
        <p:spPr>
          <a:xfrm>
            <a:off x="4716780" y="3250883"/>
            <a:ext cx="3751064" cy="618173"/>
          </a:xfrm>
          <a:prstGeom prst="rect">
            <a:avLst/>
          </a:prstGeom>
          <a:noFill/>
          <a:ln/>
        </p:spPr>
        <p:txBody>
          <a:bodyPr wrap="square" lIns="0" tIns="0" rIns="0" bIns="0" rtlCol="0" anchor="t"/>
          <a:lstStyle/>
          <a:p>
            <a:pPr algn="ctr" indent="0" marL="0">
              <a:lnSpc>
                <a:spcPts val="2400"/>
              </a:lnSpc>
              <a:buNone/>
            </a:pPr>
            <a:r>
              <a:rPr lang="en-US" sz="1500" dirty="0">
                <a:solidFill>
                  <a:srgbClr val="383838"/>
                </a:solidFill>
                <a:latin typeface="DM Sans" pitchFamily="34" charset="0"/>
                <a:ea typeface="DM Sans" pitchFamily="34" charset="-122"/>
                <a:cs typeface="DM Sans" pitchFamily="34" charset="-120"/>
              </a:rPr>
              <a:t>Strong balance between precision and recall across diseases.</a:t>
            </a:r>
            <a:endParaRPr lang="en-US" sz="1500" dirty="0"/>
          </a:p>
        </p:txBody>
      </p:sp>
      <p:sp>
        <p:nvSpPr>
          <p:cNvPr id="10" name="Text 7"/>
          <p:cNvSpPr/>
          <p:nvPr/>
        </p:nvSpPr>
        <p:spPr>
          <a:xfrm>
            <a:off x="2696408" y="4545092"/>
            <a:ext cx="3751064" cy="637461"/>
          </a:xfrm>
          <a:prstGeom prst="rect">
            <a:avLst/>
          </a:prstGeom>
          <a:noFill/>
          <a:ln/>
        </p:spPr>
        <p:txBody>
          <a:bodyPr wrap="none" lIns="0" tIns="0" rIns="0" bIns="0" rtlCol="0" anchor="t"/>
          <a:lstStyle/>
          <a:p>
            <a:pPr algn="ctr" indent="0" marL="0">
              <a:lnSpc>
                <a:spcPts val="5000"/>
              </a:lnSpc>
              <a:buNone/>
            </a:pPr>
            <a:r>
              <a:rPr lang="en-US" sz="5000" dirty="0">
                <a:solidFill>
                  <a:srgbClr val="383838"/>
                </a:solidFill>
                <a:latin typeface="PT Serif" pitchFamily="34" charset="0"/>
                <a:ea typeface="PT Serif" pitchFamily="34" charset="-122"/>
                <a:cs typeface="PT Serif" pitchFamily="34" charset="-120"/>
              </a:rPr>
              <a:t>2100</a:t>
            </a:r>
            <a:endParaRPr lang="en-US" sz="5000" dirty="0"/>
          </a:p>
        </p:txBody>
      </p:sp>
      <p:sp>
        <p:nvSpPr>
          <p:cNvPr id="11" name="Text 8"/>
          <p:cNvSpPr/>
          <p:nvPr/>
        </p:nvSpPr>
        <p:spPr>
          <a:xfrm>
            <a:off x="3304103" y="5423892"/>
            <a:ext cx="2535555" cy="316944"/>
          </a:xfrm>
          <a:prstGeom prst="rect">
            <a:avLst/>
          </a:prstGeom>
          <a:noFill/>
          <a:ln/>
        </p:spPr>
        <p:txBody>
          <a:bodyPr wrap="none" lIns="0" tIns="0" rIns="0" bIns="0" rtlCol="0" anchor="t"/>
          <a:lstStyle/>
          <a:p>
            <a:pPr algn="ctr" indent="0" marL="0">
              <a:lnSpc>
                <a:spcPts val="2450"/>
              </a:lnSpc>
              <a:buNone/>
            </a:pPr>
            <a:r>
              <a:rPr lang="en-US" sz="1950" dirty="0">
                <a:solidFill>
                  <a:srgbClr val="383838"/>
                </a:solidFill>
                <a:latin typeface="PT Serif" pitchFamily="34" charset="0"/>
                <a:ea typeface="PT Serif" pitchFamily="34" charset="-122"/>
                <a:cs typeface="PT Serif" pitchFamily="34" charset="-120"/>
              </a:rPr>
              <a:t>Features After PCA</a:t>
            </a:r>
            <a:endParaRPr lang="en-US" sz="1950" dirty="0"/>
          </a:p>
        </p:txBody>
      </p:sp>
      <p:sp>
        <p:nvSpPr>
          <p:cNvPr id="12" name="Text 9"/>
          <p:cNvSpPr/>
          <p:nvPr/>
        </p:nvSpPr>
        <p:spPr>
          <a:xfrm>
            <a:off x="2696408" y="5856684"/>
            <a:ext cx="3751064" cy="618173"/>
          </a:xfrm>
          <a:prstGeom prst="rect">
            <a:avLst/>
          </a:prstGeom>
          <a:noFill/>
          <a:ln/>
        </p:spPr>
        <p:txBody>
          <a:bodyPr wrap="square" lIns="0" tIns="0" rIns="0" bIns="0" rtlCol="0" anchor="t"/>
          <a:lstStyle/>
          <a:p>
            <a:pPr algn="ctr" indent="0" marL="0">
              <a:lnSpc>
                <a:spcPts val="2400"/>
              </a:lnSpc>
              <a:buNone/>
            </a:pPr>
            <a:r>
              <a:rPr lang="en-US" sz="1500" dirty="0">
                <a:solidFill>
                  <a:srgbClr val="383838"/>
                </a:solidFill>
                <a:latin typeface="DM Sans" pitchFamily="34" charset="0"/>
                <a:ea typeface="DM Sans" pitchFamily="34" charset="-122"/>
                <a:cs typeface="DM Sans" pitchFamily="34" charset="-120"/>
              </a:rPr>
              <a:t>Dimensionality reduction maintained key variance for classification.</a:t>
            </a:r>
            <a:endParaRPr lang="en-US" sz="1500" dirty="0"/>
          </a:p>
        </p:txBody>
      </p:sp>
      <p:sp>
        <p:nvSpPr>
          <p:cNvPr id="13" name="Text 10"/>
          <p:cNvSpPr/>
          <p:nvPr/>
        </p:nvSpPr>
        <p:spPr>
          <a:xfrm>
            <a:off x="676156" y="6692146"/>
            <a:ext cx="7791688" cy="618173"/>
          </a:xfrm>
          <a:prstGeom prst="rect">
            <a:avLst/>
          </a:prstGeom>
          <a:noFill/>
          <a:ln/>
        </p:spPr>
        <p:txBody>
          <a:bodyPr wrap="square" lIns="0" tIns="0" rIns="0" bIns="0" rtlCol="0" anchor="t"/>
          <a:lstStyle/>
          <a:p>
            <a:pPr algn="l" indent="0" marL="0">
              <a:lnSpc>
                <a:spcPts val="2400"/>
              </a:lnSpc>
              <a:buNone/>
            </a:pPr>
            <a:r>
              <a:rPr lang="en-US" sz="1500" dirty="0">
                <a:solidFill>
                  <a:srgbClr val="383838"/>
                </a:solidFill>
                <a:latin typeface="DM Sans" pitchFamily="34" charset="0"/>
                <a:ea typeface="DM Sans" pitchFamily="34" charset="-122"/>
                <a:cs typeface="DM Sans" pitchFamily="34" charset="-120"/>
              </a:rPr>
              <a:t>Individual class results show balanced precision and recall, demonstrating the system’s ability to handle similar diseases effectively.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46363" y="518874"/>
            <a:ext cx="7824073" cy="1237536"/>
          </a:xfrm>
          <a:prstGeom prst="rect">
            <a:avLst/>
          </a:prstGeom>
          <a:noFill/>
          <a:ln/>
        </p:spPr>
        <p:txBody>
          <a:bodyPr wrap="square" lIns="0" tIns="0" rIns="0" bIns="0" rtlCol="0" anchor="t"/>
          <a:lstStyle/>
          <a:p>
            <a:pPr algn="l" indent="0" marL="0">
              <a:lnSpc>
                <a:spcPts val="4850"/>
              </a:lnSpc>
              <a:buNone/>
            </a:pPr>
            <a:r>
              <a:rPr lang="en-US" sz="3850" dirty="0">
                <a:solidFill>
                  <a:srgbClr val="020202"/>
                </a:solidFill>
                <a:latin typeface="PT Serif" pitchFamily="34" charset="0"/>
                <a:ea typeface="PT Serif" pitchFamily="34" charset="-122"/>
                <a:cs typeface="PT Serif" pitchFamily="34" charset="-120"/>
              </a:rPr>
              <a:t>Discussion: Strengths and Challenges</a:t>
            </a:r>
            <a:endParaRPr lang="en-US" sz="3850" dirty="0"/>
          </a:p>
        </p:txBody>
      </p:sp>
      <p:sp>
        <p:nvSpPr>
          <p:cNvPr id="4" name="Shape 1"/>
          <p:cNvSpPr/>
          <p:nvPr/>
        </p:nvSpPr>
        <p:spPr>
          <a:xfrm>
            <a:off x="6146363" y="2039183"/>
            <a:ext cx="3817858" cy="3646646"/>
          </a:xfrm>
          <a:prstGeom prst="roundRect">
            <a:avLst>
              <a:gd name="adj" fmla="val 776"/>
            </a:avLst>
          </a:prstGeom>
          <a:solidFill>
            <a:srgbClr val="F2EEEE"/>
          </a:solidFill>
          <a:ln/>
        </p:spPr>
      </p:sp>
      <p:sp>
        <p:nvSpPr>
          <p:cNvPr id="5" name="Text 2"/>
          <p:cNvSpPr/>
          <p:nvPr/>
        </p:nvSpPr>
        <p:spPr>
          <a:xfrm>
            <a:off x="6334839" y="2227659"/>
            <a:ext cx="2474952" cy="309324"/>
          </a:xfrm>
          <a:prstGeom prst="rect">
            <a:avLst/>
          </a:prstGeom>
          <a:noFill/>
          <a:ln/>
        </p:spPr>
        <p:txBody>
          <a:bodyPr wrap="none" lIns="0" tIns="0" rIns="0" bIns="0" rtlCol="0" anchor="t"/>
          <a:lstStyle/>
          <a:p>
            <a:pPr algn="l" indent="0" marL="0">
              <a:lnSpc>
                <a:spcPts val="2400"/>
              </a:lnSpc>
              <a:buNone/>
            </a:pPr>
            <a:r>
              <a:rPr lang="en-US" sz="1900" dirty="0">
                <a:solidFill>
                  <a:srgbClr val="383838"/>
                </a:solidFill>
                <a:latin typeface="PT Serif" pitchFamily="34" charset="0"/>
                <a:ea typeface="PT Serif" pitchFamily="34" charset="-122"/>
                <a:cs typeface="PT Serif" pitchFamily="34" charset="-120"/>
              </a:rPr>
              <a:t>Strengths</a:t>
            </a:r>
            <a:endParaRPr lang="en-US" sz="1900" dirty="0"/>
          </a:p>
        </p:txBody>
      </p:sp>
      <p:sp>
        <p:nvSpPr>
          <p:cNvPr id="6" name="Text 3"/>
          <p:cNvSpPr/>
          <p:nvPr/>
        </p:nvSpPr>
        <p:spPr>
          <a:xfrm>
            <a:off x="6334839" y="2650093"/>
            <a:ext cx="3440906" cy="905113"/>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383838"/>
                </a:solidFill>
                <a:latin typeface="DM Sans" pitchFamily="34" charset="0"/>
                <a:ea typeface="DM Sans" pitchFamily="34" charset="-122"/>
                <a:cs typeface="DM Sans" pitchFamily="34" charset="-120"/>
              </a:rPr>
              <a:t>Lightweight, interpretable model suitable for embedded UAV platforms.</a:t>
            </a:r>
            <a:endParaRPr lang="en-US" sz="1450" dirty="0"/>
          </a:p>
        </p:txBody>
      </p:sp>
      <p:sp>
        <p:nvSpPr>
          <p:cNvPr id="7" name="Text 4"/>
          <p:cNvSpPr/>
          <p:nvPr/>
        </p:nvSpPr>
        <p:spPr>
          <a:xfrm>
            <a:off x="6334839" y="3621167"/>
            <a:ext cx="3440906" cy="905113"/>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383838"/>
                </a:solidFill>
                <a:latin typeface="DM Sans" pitchFamily="34" charset="0"/>
                <a:ea typeface="DM Sans" pitchFamily="34" charset="-122"/>
                <a:cs typeface="DM Sans" pitchFamily="34" charset="-120"/>
              </a:rPr>
              <a:t>Effective handcrafted features reduce dependency on large datasets.</a:t>
            </a:r>
            <a:endParaRPr lang="en-US" sz="1450" dirty="0"/>
          </a:p>
        </p:txBody>
      </p:sp>
      <p:sp>
        <p:nvSpPr>
          <p:cNvPr id="8" name="Text 5"/>
          <p:cNvSpPr/>
          <p:nvPr/>
        </p:nvSpPr>
        <p:spPr>
          <a:xfrm>
            <a:off x="6334839" y="4592241"/>
            <a:ext cx="3440906" cy="603409"/>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383838"/>
                </a:solidFill>
                <a:latin typeface="DM Sans" pitchFamily="34" charset="0"/>
                <a:ea typeface="DM Sans" pitchFamily="34" charset="-122"/>
                <a:cs typeface="DM Sans" pitchFamily="34" charset="-120"/>
              </a:rPr>
              <a:t>Modular pipeline enabling easy upgrades and scalability.</a:t>
            </a:r>
            <a:endParaRPr lang="en-US" sz="1450" dirty="0"/>
          </a:p>
        </p:txBody>
      </p:sp>
      <p:sp>
        <p:nvSpPr>
          <p:cNvPr id="9" name="Shape 6"/>
          <p:cNvSpPr/>
          <p:nvPr/>
        </p:nvSpPr>
        <p:spPr>
          <a:xfrm>
            <a:off x="10152698" y="2039183"/>
            <a:ext cx="3817858" cy="3646646"/>
          </a:xfrm>
          <a:prstGeom prst="roundRect">
            <a:avLst>
              <a:gd name="adj" fmla="val 776"/>
            </a:avLst>
          </a:prstGeom>
          <a:solidFill>
            <a:srgbClr val="F2EEEE"/>
          </a:solidFill>
          <a:ln/>
        </p:spPr>
      </p:sp>
      <p:sp>
        <p:nvSpPr>
          <p:cNvPr id="10" name="Text 7"/>
          <p:cNvSpPr/>
          <p:nvPr/>
        </p:nvSpPr>
        <p:spPr>
          <a:xfrm>
            <a:off x="10341173" y="2227659"/>
            <a:ext cx="2474952" cy="309324"/>
          </a:xfrm>
          <a:prstGeom prst="rect">
            <a:avLst/>
          </a:prstGeom>
          <a:noFill/>
          <a:ln/>
        </p:spPr>
        <p:txBody>
          <a:bodyPr wrap="none" lIns="0" tIns="0" rIns="0" bIns="0" rtlCol="0" anchor="t"/>
          <a:lstStyle/>
          <a:p>
            <a:pPr algn="l" indent="0" marL="0">
              <a:lnSpc>
                <a:spcPts val="2400"/>
              </a:lnSpc>
              <a:buNone/>
            </a:pPr>
            <a:r>
              <a:rPr lang="en-US" sz="1900" dirty="0">
                <a:solidFill>
                  <a:srgbClr val="383838"/>
                </a:solidFill>
                <a:latin typeface="PT Serif" pitchFamily="34" charset="0"/>
                <a:ea typeface="PT Serif" pitchFamily="34" charset="-122"/>
                <a:cs typeface="PT Serif" pitchFamily="34" charset="-120"/>
              </a:rPr>
              <a:t>Challenges</a:t>
            </a:r>
            <a:endParaRPr lang="en-US" sz="1900" dirty="0"/>
          </a:p>
        </p:txBody>
      </p:sp>
      <p:sp>
        <p:nvSpPr>
          <p:cNvPr id="11" name="Text 8"/>
          <p:cNvSpPr/>
          <p:nvPr/>
        </p:nvSpPr>
        <p:spPr>
          <a:xfrm>
            <a:off x="10341173" y="2650093"/>
            <a:ext cx="3440906" cy="905113"/>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383838"/>
                </a:solidFill>
                <a:latin typeface="DM Sans" pitchFamily="34" charset="0"/>
                <a:ea typeface="DM Sans" pitchFamily="34" charset="-122"/>
                <a:cs typeface="DM Sans" pitchFamily="34" charset="-120"/>
              </a:rPr>
              <a:t>Visual similarity between some diseases complicates classification accuracy.</a:t>
            </a:r>
            <a:endParaRPr lang="en-US" sz="1450" dirty="0"/>
          </a:p>
        </p:txBody>
      </p:sp>
      <p:sp>
        <p:nvSpPr>
          <p:cNvPr id="12" name="Text 9"/>
          <p:cNvSpPr/>
          <p:nvPr/>
        </p:nvSpPr>
        <p:spPr>
          <a:xfrm>
            <a:off x="10341173" y="3621167"/>
            <a:ext cx="3440906" cy="905113"/>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383838"/>
                </a:solidFill>
                <a:latin typeface="DM Sans" pitchFamily="34" charset="0"/>
                <a:ea typeface="DM Sans" pitchFamily="34" charset="-122"/>
                <a:cs typeface="DM Sans" pitchFamily="34" charset="-120"/>
              </a:rPr>
              <a:t>Limited dataset classes restrict wide applicability without broader data.</a:t>
            </a:r>
            <a:endParaRPr lang="en-US" sz="1450" dirty="0"/>
          </a:p>
        </p:txBody>
      </p:sp>
      <p:sp>
        <p:nvSpPr>
          <p:cNvPr id="13" name="Text 10"/>
          <p:cNvSpPr/>
          <p:nvPr/>
        </p:nvSpPr>
        <p:spPr>
          <a:xfrm>
            <a:off x="10341173" y="4592241"/>
            <a:ext cx="3440906" cy="905113"/>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383838"/>
                </a:solidFill>
                <a:latin typeface="DM Sans" pitchFamily="34" charset="0"/>
                <a:ea typeface="DM Sans" pitchFamily="34" charset="-122"/>
                <a:cs typeface="DM Sans" pitchFamily="34" charset="-120"/>
              </a:rPr>
              <a:t>Environmental variations affect image quality and feature robustness.</a:t>
            </a:r>
            <a:endParaRPr lang="en-US" sz="1450" dirty="0"/>
          </a:p>
        </p:txBody>
      </p:sp>
      <p:sp>
        <p:nvSpPr>
          <p:cNvPr id="14" name="Shape 11"/>
          <p:cNvSpPr/>
          <p:nvPr/>
        </p:nvSpPr>
        <p:spPr>
          <a:xfrm>
            <a:off x="6146363" y="5874306"/>
            <a:ext cx="7824073" cy="1836420"/>
          </a:xfrm>
          <a:prstGeom prst="roundRect">
            <a:avLst>
              <a:gd name="adj" fmla="val 1540"/>
            </a:avLst>
          </a:prstGeom>
          <a:solidFill>
            <a:srgbClr val="F2EEEE"/>
          </a:solidFill>
          <a:ln/>
        </p:spPr>
      </p:sp>
      <p:sp>
        <p:nvSpPr>
          <p:cNvPr id="15" name="Text 12"/>
          <p:cNvSpPr/>
          <p:nvPr/>
        </p:nvSpPr>
        <p:spPr>
          <a:xfrm>
            <a:off x="6334839" y="6062782"/>
            <a:ext cx="2474952" cy="309324"/>
          </a:xfrm>
          <a:prstGeom prst="rect">
            <a:avLst/>
          </a:prstGeom>
          <a:noFill/>
          <a:ln/>
        </p:spPr>
        <p:txBody>
          <a:bodyPr wrap="none" lIns="0" tIns="0" rIns="0" bIns="0" rtlCol="0" anchor="t"/>
          <a:lstStyle/>
          <a:p>
            <a:pPr algn="l" indent="0" marL="0">
              <a:lnSpc>
                <a:spcPts val="2400"/>
              </a:lnSpc>
              <a:buNone/>
            </a:pPr>
            <a:r>
              <a:rPr lang="en-US" sz="1900" dirty="0">
                <a:solidFill>
                  <a:srgbClr val="383838"/>
                </a:solidFill>
                <a:latin typeface="PT Serif" pitchFamily="34" charset="0"/>
                <a:ea typeface="PT Serif" pitchFamily="34" charset="-122"/>
                <a:cs typeface="PT Serif" pitchFamily="34" charset="-120"/>
              </a:rPr>
              <a:t>Mitigation Strategies</a:t>
            </a:r>
            <a:endParaRPr lang="en-US" sz="1900" dirty="0"/>
          </a:p>
        </p:txBody>
      </p:sp>
      <p:sp>
        <p:nvSpPr>
          <p:cNvPr id="16" name="Text 13"/>
          <p:cNvSpPr/>
          <p:nvPr/>
        </p:nvSpPr>
        <p:spPr>
          <a:xfrm>
            <a:off x="6334839" y="6485215"/>
            <a:ext cx="7447121"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383838"/>
                </a:solidFill>
                <a:latin typeface="DM Sans" pitchFamily="34" charset="0"/>
                <a:ea typeface="DM Sans" pitchFamily="34" charset="-122"/>
                <a:cs typeface="DM Sans" pitchFamily="34" charset="-120"/>
              </a:rPr>
              <a:t>Dimensionality reduction via PCA reduces computational costs.</a:t>
            </a:r>
            <a:endParaRPr lang="en-US" sz="1450" dirty="0"/>
          </a:p>
        </p:txBody>
      </p:sp>
      <p:sp>
        <p:nvSpPr>
          <p:cNvPr id="17" name="Text 14"/>
          <p:cNvSpPr/>
          <p:nvPr/>
        </p:nvSpPr>
        <p:spPr>
          <a:xfrm>
            <a:off x="6334839" y="6852880"/>
            <a:ext cx="7447121"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383838"/>
                </a:solidFill>
                <a:latin typeface="DM Sans" pitchFamily="34" charset="0"/>
                <a:ea typeface="DM Sans" pitchFamily="34" charset="-122"/>
                <a:cs typeface="DM Sans" pitchFamily="34" charset="-120"/>
              </a:rPr>
              <a:t>Stratified sampling improves balanced performance evaluation.</a:t>
            </a:r>
            <a:endParaRPr lang="en-US" sz="1450" dirty="0"/>
          </a:p>
        </p:txBody>
      </p:sp>
      <p:sp>
        <p:nvSpPr>
          <p:cNvPr id="18" name="Text 15"/>
          <p:cNvSpPr/>
          <p:nvPr/>
        </p:nvSpPr>
        <p:spPr>
          <a:xfrm>
            <a:off x="6334839" y="7220545"/>
            <a:ext cx="7447121"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383838"/>
                </a:solidFill>
                <a:latin typeface="DM Sans" pitchFamily="34" charset="0"/>
                <a:ea typeface="DM Sans" pitchFamily="34" charset="-122"/>
                <a:cs typeface="DM Sans" pitchFamily="34" charset="-120"/>
              </a:rPr>
              <a:t>Future model optimisation planned for real-time UAV deployment.</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744379"/>
            <a:ext cx="7527131" cy="744260"/>
          </a:xfrm>
          <a:prstGeom prst="rect">
            <a:avLst/>
          </a:prstGeom>
          <a:noFill/>
          <a:ln/>
        </p:spPr>
        <p:txBody>
          <a:bodyPr wrap="none" lIns="0" tIns="0" rIns="0" bIns="0" rtlCol="0" anchor="t"/>
          <a:lstStyle/>
          <a:p>
            <a:pPr algn="l" indent="0" marL="0">
              <a:lnSpc>
                <a:spcPts val="5850"/>
              </a:lnSpc>
              <a:buNone/>
            </a:pPr>
            <a:r>
              <a:rPr lang="en-US" sz="4650" dirty="0">
                <a:solidFill>
                  <a:srgbClr val="020202"/>
                </a:solidFill>
                <a:latin typeface="PT Serif" pitchFamily="34" charset="0"/>
                <a:ea typeface="PT Serif" pitchFamily="34" charset="-122"/>
                <a:cs typeface="PT Serif" pitchFamily="34" charset="-120"/>
              </a:rPr>
              <a:t>Conclusion and Future Work</a:t>
            </a:r>
            <a:endParaRPr lang="en-US" sz="4650" dirty="0"/>
          </a:p>
        </p:txBody>
      </p:sp>
      <p:sp>
        <p:nvSpPr>
          <p:cNvPr id="3" name="Text 1"/>
          <p:cNvSpPr/>
          <p:nvPr/>
        </p:nvSpPr>
        <p:spPr>
          <a:xfrm>
            <a:off x="793790" y="2055614"/>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020202"/>
                </a:solidFill>
                <a:latin typeface="PT Serif" pitchFamily="34" charset="0"/>
                <a:ea typeface="PT Serif" pitchFamily="34" charset="-122"/>
                <a:cs typeface="PT Serif" pitchFamily="34" charset="-120"/>
              </a:rPr>
              <a:t>Conclusion</a:t>
            </a:r>
            <a:endParaRPr lang="en-US" sz="2300" dirty="0"/>
          </a:p>
        </p:txBody>
      </p:sp>
      <p:sp>
        <p:nvSpPr>
          <p:cNvPr id="4" name="Text 2"/>
          <p:cNvSpPr/>
          <p:nvPr/>
        </p:nvSpPr>
        <p:spPr>
          <a:xfrm>
            <a:off x="793790" y="2654498"/>
            <a:ext cx="6244709" cy="1814513"/>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The proposed system showcases a practical, scalable approach for timely crop disease diagnosis using UAV imagery and classical machine learning. It achieves high accuracy with efficient computation, suitable for resource-constrained real-time scenarios.</a:t>
            </a:r>
            <a:endParaRPr lang="en-US" sz="1750" dirty="0"/>
          </a:p>
        </p:txBody>
      </p:sp>
      <p:sp>
        <p:nvSpPr>
          <p:cNvPr id="5" name="Text 3"/>
          <p:cNvSpPr/>
          <p:nvPr/>
        </p:nvSpPr>
        <p:spPr>
          <a:xfrm>
            <a:off x="793790" y="4673084"/>
            <a:ext cx="6244709" cy="725805"/>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This work supports sustainable agricultural practices by enabling early intervention and reducing losses.</a:t>
            </a:r>
            <a:endParaRPr lang="en-US" sz="1750" dirty="0"/>
          </a:p>
        </p:txBody>
      </p:sp>
      <p:sp>
        <p:nvSpPr>
          <p:cNvPr id="6" name="Text 4"/>
          <p:cNvSpPr/>
          <p:nvPr/>
        </p:nvSpPr>
        <p:spPr>
          <a:xfrm>
            <a:off x="7599521" y="2055614"/>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020202"/>
                </a:solidFill>
                <a:latin typeface="PT Serif" pitchFamily="34" charset="0"/>
                <a:ea typeface="PT Serif" pitchFamily="34" charset="-122"/>
                <a:cs typeface="PT Serif" pitchFamily="34" charset="-120"/>
              </a:rPr>
              <a:t>Future Directions</a:t>
            </a:r>
            <a:endParaRPr lang="en-US" sz="2300" dirty="0"/>
          </a:p>
        </p:txBody>
      </p:sp>
      <p:sp>
        <p:nvSpPr>
          <p:cNvPr id="7" name="Text 5"/>
          <p:cNvSpPr/>
          <p:nvPr/>
        </p:nvSpPr>
        <p:spPr>
          <a:xfrm>
            <a:off x="7599521" y="2654498"/>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83838"/>
                </a:solidFill>
                <a:latin typeface="DM Sans" pitchFamily="34" charset="0"/>
                <a:ea typeface="DM Sans" pitchFamily="34" charset="-122"/>
                <a:cs typeface="DM Sans" pitchFamily="34" charset="-120"/>
              </a:rPr>
              <a:t>Incorporate deep learning models (CNNs, Transformers) to enhance accuracy.</a:t>
            </a:r>
            <a:endParaRPr lang="en-US" sz="1750" dirty="0"/>
          </a:p>
        </p:txBody>
      </p:sp>
      <p:sp>
        <p:nvSpPr>
          <p:cNvPr id="8" name="Text 6"/>
          <p:cNvSpPr/>
          <p:nvPr/>
        </p:nvSpPr>
        <p:spPr>
          <a:xfrm>
            <a:off x="7599521" y="3459599"/>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83838"/>
                </a:solidFill>
                <a:latin typeface="DM Sans" pitchFamily="34" charset="0"/>
                <a:ea typeface="DM Sans" pitchFamily="34" charset="-122"/>
                <a:cs typeface="DM Sans" pitchFamily="34" charset="-120"/>
              </a:rPr>
              <a:t>Expand to multi-crop, multi-disease datasets for comprehensive coverage.</a:t>
            </a:r>
            <a:endParaRPr lang="en-US" sz="1750" dirty="0"/>
          </a:p>
        </p:txBody>
      </p:sp>
      <p:sp>
        <p:nvSpPr>
          <p:cNvPr id="9" name="Text 7"/>
          <p:cNvSpPr/>
          <p:nvPr/>
        </p:nvSpPr>
        <p:spPr>
          <a:xfrm>
            <a:off x="7599521" y="4264700"/>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83838"/>
                </a:solidFill>
                <a:latin typeface="DM Sans" pitchFamily="34" charset="0"/>
                <a:ea typeface="DM Sans" pitchFamily="34" charset="-122"/>
                <a:cs typeface="DM Sans" pitchFamily="34" charset="-120"/>
              </a:rPr>
              <a:t>Real-time onboard processing on edge devices like NVIDIA Jetson Nano.</a:t>
            </a:r>
            <a:endParaRPr lang="en-US" sz="1750" dirty="0"/>
          </a:p>
        </p:txBody>
      </p:sp>
      <p:sp>
        <p:nvSpPr>
          <p:cNvPr id="10" name="Text 8"/>
          <p:cNvSpPr/>
          <p:nvPr/>
        </p:nvSpPr>
        <p:spPr>
          <a:xfrm>
            <a:off x="7599521" y="5069800"/>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83838"/>
                </a:solidFill>
                <a:latin typeface="DM Sans" pitchFamily="34" charset="0"/>
                <a:ea typeface="DM Sans" pitchFamily="34" charset="-122"/>
                <a:cs typeface="DM Sans" pitchFamily="34" charset="-120"/>
              </a:rPr>
              <a:t>Environmental robustness via image augmentation for variable lighting conditions.</a:t>
            </a:r>
            <a:endParaRPr lang="en-US" sz="1750" dirty="0"/>
          </a:p>
        </p:txBody>
      </p:sp>
      <p:sp>
        <p:nvSpPr>
          <p:cNvPr id="11" name="Text 9"/>
          <p:cNvSpPr/>
          <p:nvPr/>
        </p:nvSpPr>
        <p:spPr>
          <a:xfrm>
            <a:off x="7599521" y="5874901"/>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83838"/>
                </a:solidFill>
                <a:latin typeface="DM Sans" pitchFamily="34" charset="0"/>
                <a:ea typeface="DM Sans" pitchFamily="34" charset="-122"/>
                <a:cs typeface="DM Sans" pitchFamily="34" charset="-120"/>
              </a:rPr>
              <a:t>Integration with IoT and mobile applications for farmer-centric decision support.</a:t>
            </a:r>
            <a:endParaRPr lang="en-US" sz="1750" dirty="0"/>
          </a:p>
        </p:txBody>
      </p:sp>
      <p:sp>
        <p:nvSpPr>
          <p:cNvPr id="12" name="Text 10"/>
          <p:cNvSpPr/>
          <p:nvPr/>
        </p:nvSpPr>
        <p:spPr>
          <a:xfrm>
            <a:off x="7599521" y="6680002"/>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83838"/>
                </a:solidFill>
                <a:latin typeface="DM Sans" pitchFamily="34" charset="0"/>
                <a:ea typeface="DM Sans" pitchFamily="34" charset="-122"/>
                <a:cs typeface="DM Sans" pitchFamily="34" charset="-120"/>
              </a:rPr>
              <a:t>Geotagging for spatial disease mapping and proactive management.</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2025-04-17T03:35:53Z</dcterms:created>
  <dcterms:modified xsi:type="dcterms:W3CDTF">2025-04-17T03:35:53Z</dcterms:modified>
</cp:coreProperties>
</file>